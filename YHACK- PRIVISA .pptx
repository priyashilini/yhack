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12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12" Target="../media/image13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12" Target="../media/image14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12" Target="../media/image15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12" Target="../media/image16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12" Target="../media/image17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12" Target="../media/image18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12" Target="../media/image19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20.png" Type="http://schemas.openxmlformats.org/officeDocument/2006/relationships/image"/><Relationship Id="rId12" Target="../media/image21.jpe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490" y="251374"/>
            <a:ext cx="18059400" cy="9810750"/>
            <a:chOff x="0" y="0"/>
            <a:chExt cx="24079200" cy="130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79200" cy="13081000"/>
            </a:xfrm>
            <a:custGeom>
              <a:avLst/>
              <a:gdLst/>
              <a:ahLst/>
              <a:cxnLst/>
              <a:rect r="r" b="b" t="t" l="l"/>
              <a:pathLst>
                <a:path h="13081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081000"/>
                  </a:lnTo>
                  <a:lnTo>
                    <a:pt x="0" y="130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0" r="-712" b="-25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599860">
            <a:off x="1346825" y="326850"/>
            <a:ext cx="400050" cy="647700"/>
            <a:chOff x="0" y="0"/>
            <a:chExt cx="533400" cy="86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" cy="863600"/>
            </a:xfrm>
            <a:custGeom>
              <a:avLst/>
              <a:gdLst/>
              <a:ahLst/>
              <a:cxnLst/>
              <a:rect r="r" b="b" t="t" l="l"/>
              <a:pathLst>
                <a:path h="863600" w="533400">
                  <a:moveTo>
                    <a:pt x="0" y="0"/>
                  </a:moveTo>
                  <a:lnTo>
                    <a:pt x="0" y="863600"/>
                  </a:lnTo>
                  <a:lnTo>
                    <a:pt x="533400" y="863600"/>
                  </a:lnTo>
                  <a:lnTo>
                    <a:pt x="533400" y="0"/>
                  </a:lnTo>
                  <a:lnTo>
                    <a:pt x="29883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809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2599860">
            <a:off x="1657350" y="325555"/>
            <a:ext cx="400050" cy="657225"/>
            <a:chOff x="0" y="0"/>
            <a:chExt cx="533400" cy="876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0" y="876300"/>
                  </a:lnTo>
                  <a:lnTo>
                    <a:pt x="533400" y="876300"/>
                  </a:lnTo>
                  <a:lnTo>
                    <a:pt x="5334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615383" y="166011"/>
            <a:ext cx="400050" cy="657225"/>
            <a:chOff x="0" y="0"/>
            <a:chExt cx="533400" cy="876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543" y="519874"/>
            <a:ext cx="2133600" cy="733425"/>
            <a:chOff x="0" y="0"/>
            <a:chExt cx="2844800" cy="977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4800" cy="977900"/>
            </a:xfrm>
            <a:custGeom>
              <a:avLst/>
              <a:gdLst/>
              <a:ahLst/>
              <a:cxnLst/>
              <a:rect r="r" b="b" t="t" l="l"/>
              <a:pathLst>
                <a:path h="97790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977900"/>
                  </a:lnTo>
                  <a:lnTo>
                    <a:pt x="0" y="97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15607" y="492871"/>
            <a:ext cx="2314575" cy="723900"/>
            <a:chOff x="0" y="0"/>
            <a:chExt cx="3086100" cy="96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86100" cy="965200"/>
            </a:xfrm>
            <a:custGeom>
              <a:avLst/>
              <a:gdLst/>
              <a:ahLst/>
              <a:cxnLst/>
              <a:rect r="r" b="b" t="t" l="l"/>
              <a:pathLst>
                <a:path h="9652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44700" y="330136"/>
            <a:ext cx="1342244" cy="981837"/>
            <a:chOff x="0" y="0"/>
            <a:chExt cx="1342238" cy="9818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751" cy="981841"/>
            </a:xfrm>
            <a:custGeom>
              <a:avLst/>
              <a:gdLst/>
              <a:ahLst/>
              <a:cxnLst/>
              <a:rect r="r" b="b" t="t" l="l"/>
              <a:pathLst>
                <a:path h="981841" w="1341751">
                  <a:moveTo>
                    <a:pt x="0" y="0"/>
                  </a:moveTo>
                  <a:lnTo>
                    <a:pt x="0" y="981841"/>
                  </a:lnTo>
                  <a:lnTo>
                    <a:pt x="1341751" y="981841"/>
                  </a:lnTo>
                  <a:lnTo>
                    <a:pt x="13417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75891" y="348244"/>
            <a:ext cx="876300" cy="942975"/>
            <a:chOff x="0" y="0"/>
            <a:chExt cx="1168400" cy="125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1059" t="0" r="-41548" b="-1313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751132" y="438626"/>
            <a:ext cx="2364505" cy="951748"/>
          </a:xfrm>
          <a:custGeom>
            <a:avLst/>
            <a:gdLst/>
            <a:ahLst/>
            <a:cxnLst/>
            <a:rect r="r" b="b" t="t" l="l"/>
            <a:pathLst>
              <a:path h="951748" w="2364505">
                <a:moveTo>
                  <a:pt x="0" y="0"/>
                </a:moveTo>
                <a:lnTo>
                  <a:pt x="2364505" y="0"/>
                </a:lnTo>
                <a:lnTo>
                  <a:pt x="2364505" y="951748"/>
                </a:lnTo>
                <a:lnTo>
                  <a:pt x="0" y="9517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914057" y="613439"/>
            <a:ext cx="2038350" cy="600075"/>
            <a:chOff x="0" y="0"/>
            <a:chExt cx="2717800" cy="800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17800" cy="800100"/>
            </a:xfrm>
            <a:custGeom>
              <a:avLst/>
              <a:gdLst/>
              <a:ahLst/>
              <a:cxnLst/>
              <a:rect r="r" b="b" t="t" l="l"/>
              <a:pathLst>
                <a:path h="800100" w="2717800">
                  <a:moveTo>
                    <a:pt x="0" y="0"/>
                  </a:moveTo>
                  <a:lnTo>
                    <a:pt x="2717800" y="0"/>
                  </a:lnTo>
                  <a:lnTo>
                    <a:pt x="27178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99802" y="463029"/>
            <a:ext cx="1619250" cy="847725"/>
            <a:chOff x="0" y="0"/>
            <a:chExt cx="2159000" cy="1130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590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0818" t="-87704" r="-18004" b="-7746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97167" y="280092"/>
            <a:ext cx="147085" cy="1160307"/>
            <a:chOff x="0" y="0"/>
            <a:chExt cx="147079" cy="11602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32216" y="280092"/>
            <a:ext cx="147085" cy="1160307"/>
            <a:chOff x="0" y="0"/>
            <a:chExt cx="147079" cy="11602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28761" y="280092"/>
            <a:ext cx="147085" cy="1160307"/>
            <a:chOff x="0" y="0"/>
            <a:chExt cx="147079" cy="11602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157271" y="266690"/>
            <a:ext cx="288922" cy="1184272"/>
            <a:chOff x="0" y="0"/>
            <a:chExt cx="288925" cy="11842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31953" y="76962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31953" y="994156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1953" y="193040"/>
              <a:ext cx="20066" cy="801370"/>
            </a:xfrm>
            <a:custGeom>
              <a:avLst/>
              <a:gdLst/>
              <a:ahLst/>
              <a:cxnLst/>
              <a:rect r="r" b="b" t="t" l="l"/>
              <a:pathLst>
                <a:path h="801370" w="20066">
                  <a:moveTo>
                    <a:pt x="20066" y="0"/>
                  </a:moveTo>
                  <a:lnTo>
                    <a:pt x="20066" y="801370"/>
                  </a:lnTo>
                  <a:lnTo>
                    <a:pt x="0" y="801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000674" y="1495025"/>
            <a:ext cx="4152900" cy="8572500"/>
            <a:chOff x="0" y="0"/>
            <a:chExt cx="5537200" cy="11430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37200" cy="11430000"/>
            </a:xfrm>
            <a:custGeom>
              <a:avLst/>
              <a:gdLst/>
              <a:ahLst/>
              <a:cxnLst/>
              <a:rect r="r" b="b" t="t" l="l"/>
              <a:pathLst>
                <a:path h="11430000" w="5537200">
                  <a:moveTo>
                    <a:pt x="0" y="0"/>
                  </a:moveTo>
                  <a:lnTo>
                    <a:pt x="5537200" y="0"/>
                  </a:lnTo>
                  <a:lnTo>
                    <a:pt x="5537200" y="11430000"/>
                  </a:lnTo>
                  <a:lnTo>
                    <a:pt x="0" y="1143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89880" y="330136"/>
            <a:ext cx="164335" cy="1060237"/>
            <a:chOff x="0" y="0"/>
            <a:chExt cx="164338" cy="10602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524939" y="330136"/>
            <a:ext cx="164335" cy="1060237"/>
            <a:chOff x="0" y="0"/>
            <a:chExt cx="164338" cy="10602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521475" y="330136"/>
            <a:ext cx="164335" cy="1060237"/>
            <a:chOff x="0" y="0"/>
            <a:chExt cx="164338" cy="10602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218440" y="330136"/>
            <a:ext cx="164335" cy="1060237"/>
            <a:chOff x="0" y="0"/>
            <a:chExt cx="164338" cy="106023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37362" y="2135295"/>
            <a:ext cx="12930843" cy="10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8"/>
              </a:lnSpc>
            </a:pPr>
            <a:r>
              <a:rPr lang="en-US" b="true" sz="3062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TITLE: </a:t>
            </a:r>
            <a:r>
              <a:rPr lang="en-US" b="true" sz="306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CNN-Based Automated Industrial Surface Defect Detection and Classification</a:t>
            </a:r>
            <a:r>
              <a:rPr lang="en-US" b="true" sz="3062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37371" y="3559286"/>
            <a:ext cx="7913761" cy="511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4"/>
              </a:lnSpc>
            </a:pPr>
            <a:r>
              <a:rPr lang="en-US" b="true" sz="2405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TEAM NAME: PRIVISA</a:t>
            </a:r>
          </a:p>
          <a:p>
            <a:pPr algn="l">
              <a:lnSpc>
                <a:spcPts val="4544"/>
              </a:lnSpc>
            </a:pPr>
            <a:r>
              <a:rPr lang="en-US" b="true" sz="2405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TEAM ID: YS518</a:t>
            </a:r>
          </a:p>
          <a:p>
            <a:pPr algn="l">
              <a:lnSpc>
                <a:spcPts val="4544"/>
              </a:lnSpc>
            </a:pPr>
            <a:r>
              <a:rPr lang="en-US" b="true" sz="2405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PS ID: 6</a:t>
            </a:r>
          </a:p>
          <a:p>
            <a:pPr algn="l">
              <a:lnSpc>
                <a:spcPts val="4544"/>
              </a:lnSpc>
            </a:pPr>
            <a:r>
              <a:rPr lang="en-US" b="true" sz="2405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DOMAIN: Manufacturing/Industrial quality control</a:t>
            </a:r>
          </a:p>
          <a:p>
            <a:pPr algn="l">
              <a:lnSpc>
                <a:spcPts val="4544"/>
              </a:lnSpc>
            </a:pPr>
            <a:r>
              <a:rPr lang="en-US" b="true" sz="2405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TEAM LEADER NAME: Priyashilini R</a:t>
            </a:r>
          </a:p>
          <a:p>
            <a:pPr algn="l">
              <a:lnSpc>
                <a:spcPts val="4544"/>
              </a:lnSpc>
            </a:pPr>
            <a:r>
              <a:rPr lang="en-US" b="true" sz="2405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MEMBER-1 NAME: Prajin sharom kumar L</a:t>
            </a:r>
          </a:p>
          <a:p>
            <a:pPr algn="l">
              <a:lnSpc>
                <a:spcPts val="4544"/>
              </a:lnSpc>
            </a:pPr>
            <a:r>
              <a:rPr lang="en-US" b="true" sz="2405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MEMBER-2 NAME: Vignesh kumaran T S</a:t>
            </a:r>
          </a:p>
          <a:p>
            <a:pPr algn="l">
              <a:lnSpc>
                <a:spcPts val="4544"/>
              </a:lnSpc>
            </a:pPr>
            <a:r>
              <a:rPr lang="en-US" b="true" sz="2405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MEMBER-3 NAME: Satheesh kumar S</a:t>
            </a:r>
          </a:p>
          <a:p>
            <a:pPr algn="l">
              <a:lnSpc>
                <a:spcPts val="4544"/>
              </a:lnSpc>
            </a:pPr>
            <a:r>
              <a:rPr lang="en-US" b="true" sz="2405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MEMBER-4 NAME: Vijaya varshin 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490" y="251374"/>
            <a:ext cx="18059400" cy="9810750"/>
            <a:chOff x="0" y="0"/>
            <a:chExt cx="24079200" cy="130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79200" cy="13081000"/>
            </a:xfrm>
            <a:custGeom>
              <a:avLst/>
              <a:gdLst/>
              <a:ahLst/>
              <a:cxnLst/>
              <a:rect r="r" b="b" t="t" l="l"/>
              <a:pathLst>
                <a:path h="13081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081000"/>
                  </a:lnTo>
                  <a:lnTo>
                    <a:pt x="0" y="130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0" r="-712" b="-25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599860">
            <a:off x="1346825" y="326850"/>
            <a:ext cx="400050" cy="647700"/>
            <a:chOff x="0" y="0"/>
            <a:chExt cx="533400" cy="86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" cy="863600"/>
            </a:xfrm>
            <a:custGeom>
              <a:avLst/>
              <a:gdLst/>
              <a:ahLst/>
              <a:cxnLst/>
              <a:rect r="r" b="b" t="t" l="l"/>
              <a:pathLst>
                <a:path h="863600" w="533400">
                  <a:moveTo>
                    <a:pt x="0" y="0"/>
                  </a:moveTo>
                  <a:lnTo>
                    <a:pt x="0" y="863600"/>
                  </a:lnTo>
                  <a:lnTo>
                    <a:pt x="533400" y="863600"/>
                  </a:lnTo>
                  <a:lnTo>
                    <a:pt x="533400" y="0"/>
                  </a:lnTo>
                  <a:lnTo>
                    <a:pt x="29883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809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2599860">
            <a:off x="1657350" y="325555"/>
            <a:ext cx="400050" cy="657225"/>
            <a:chOff x="0" y="0"/>
            <a:chExt cx="533400" cy="876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0" y="876300"/>
                  </a:lnTo>
                  <a:lnTo>
                    <a:pt x="533400" y="876300"/>
                  </a:lnTo>
                  <a:lnTo>
                    <a:pt x="5334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615383" y="166011"/>
            <a:ext cx="400050" cy="657225"/>
            <a:chOff x="0" y="0"/>
            <a:chExt cx="533400" cy="876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543" y="519874"/>
            <a:ext cx="2133600" cy="733425"/>
            <a:chOff x="0" y="0"/>
            <a:chExt cx="2844800" cy="977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4800" cy="977900"/>
            </a:xfrm>
            <a:custGeom>
              <a:avLst/>
              <a:gdLst/>
              <a:ahLst/>
              <a:cxnLst/>
              <a:rect r="r" b="b" t="t" l="l"/>
              <a:pathLst>
                <a:path h="97790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977900"/>
                  </a:lnTo>
                  <a:lnTo>
                    <a:pt x="0" y="97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15607" y="492871"/>
            <a:ext cx="2314575" cy="723900"/>
            <a:chOff x="0" y="0"/>
            <a:chExt cx="3086100" cy="96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86100" cy="965200"/>
            </a:xfrm>
            <a:custGeom>
              <a:avLst/>
              <a:gdLst/>
              <a:ahLst/>
              <a:cxnLst/>
              <a:rect r="r" b="b" t="t" l="l"/>
              <a:pathLst>
                <a:path h="9652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44700" y="330136"/>
            <a:ext cx="1342244" cy="981837"/>
            <a:chOff x="0" y="0"/>
            <a:chExt cx="1342238" cy="9818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751" cy="981841"/>
            </a:xfrm>
            <a:custGeom>
              <a:avLst/>
              <a:gdLst/>
              <a:ahLst/>
              <a:cxnLst/>
              <a:rect r="r" b="b" t="t" l="l"/>
              <a:pathLst>
                <a:path h="981841" w="1341751">
                  <a:moveTo>
                    <a:pt x="0" y="0"/>
                  </a:moveTo>
                  <a:lnTo>
                    <a:pt x="0" y="981841"/>
                  </a:lnTo>
                  <a:lnTo>
                    <a:pt x="1341751" y="981841"/>
                  </a:lnTo>
                  <a:lnTo>
                    <a:pt x="13417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75891" y="348244"/>
            <a:ext cx="876300" cy="942975"/>
            <a:chOff x="0" y="0"/>
            <a:chExt cx="1168400" cy="125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1059" t="0" r="-41548" b="-1313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751132" y="438626"/>
            <a:ext cx="2364505" cy="951748"/>
          </a:xfrm>
          <a:custGeom>
            <a:avLst/>
            <a:gdLst/>
            <a:ahLst/>
            <a:cxnLst/>
            <a:rect r="r" b="b" t="t" l="l"/>
            <a:pathLst>
              <a:path h="951748" w="2364505">
                <a:moveTo>
                  <a:pt x="0" y="0"/>
                </a:moveTo>
                <a:lnTo>
                  <a:pt x="2364505" y="0"/>
                </a:lnTo>
                <a:lnTo>
                  <a:pt x="2364505" y="951748"/>
                </a:lnTo>
                <a:lnTo>
                  <a:pt x="0" y="9517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914057" y="613439"/>
            <a:ext cx="2038350" cy="600075"/>
            <a:chOff x="0" y="0"/>
            <a:chExt cx="2717800" cy="800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17800" cy="800100"/>
            </a:xfrm>
            <a:custGeom>
              <a:avLst/>
              <a:gdLst/>
              <a:ahLst/>
              <a:cxnLst/>
              <a:rect r="r" b="b" t="t" l="l"/>
              <a:pathLst>
                <a:path h="800100" w="2717800">
                  <a:moveTo>
                    <a:pt x="0" y="0"/>
                  </a:moveTo>
                  <a:lnTo>
                    <a:pt x="2717800" y="0"/>
                  </a:lnTo>
                  <a:lnTo>
                    <a:pt x="27178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99802" y="463029"/>
            <a:ext cx="1619250" cy="847725"/>
            <a:chOff x="0" y="0"/>
            <a:chExt cx="2159000" cy="1130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590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0818" t="-87704" r="-18004" b="-7746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97167" y="280092"/>
            <a:ext cx="147085" cy="1160307"/>
            <a:chOff x="0" y="0"/>
            <a:chExt cx="147079" cy="11602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32216" y="280092"/>
            <a:ext cx="147085" cy="1160307"/>
            <a:chOff x="0" y="0"/>
            <a:chExt cx="147079" cy="11602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28761" y="280092"/>
            <a:ext cx="147085" cy="1160307"/>
            <a:chOff x="0" y="0"/>
            <a:chExt cx="147079" cy="11602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157271" y="266690"/>
            <a:ext cx="288922" cy="1184272"/>
            <a:chOff x="0" y="0"/>
            <a:chExt cx="288925" cy="11842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31953" y="76962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31953" y="994156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1953" y="193040"/>
              <a:ext cx="20066" cy="801370"/>
            </a:xfrm>
            <a:custGeom>
              <a:avLst/>
              <a:gdLst/>
              <a:ahLst/>
              <a:cxnLst/>
              <a:rect r="r" b="b" t="t" l="l"/>
              <a:pathLst>
                <a:path h="801370" w="20066">
                  <a:moveTo>
                    <a:pt x="20066" y="0"/>
                  </a:moveTo>
                  <a:lnTo>
                    <a:pt x="20066" y="801370"/>
                  </a:lnTo>
                  <a:lnTo>
                    <a:pt x="0" y="801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6980" y="1581693"/>
            <a:ext cx="5251075" cy="1402566"/>
            <a:chOff x="0" y="0"/>
            <a:chExt cx="7001434" cy="18700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01383" cy="1870075"/>
            </a:xfrm>
            <a:custGeom>
              <a:avLst/>
              <a:gdLst/>
              <a:ahLst/>
              <a:cxnLst/>
              <a:rect r="r" b="b" t="t" l="l"/>
              <a:pathLst>
                <a:path h="1870075" w="7001383">
                  <a:moveTo>
                    <a:pt x="0" y="0"/>
                  </a:moveTo>
                  <a:lnTo>
                    <a:pt x="7001383" y="0"/>
                  </a:lnTo>
                  <a:lnTo>
                    <a:pt x="7001383" y="1870075"/>
                  </a:lnTo>
                  <a:lnTo>
                    <a:pt x="0" y="1870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7411" t="-45522" r="-12524" b="-43503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89880" y="330136"/>
            <a:ext cx="164335" cy="1060237"/>
            <a:chOff x="0" y="0"/>
            <a:chExt cx="164338" cy="10602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524939" y="330136"/>
            <a:ext cx="164335" cy="1060237"/>
            <a:chOff x="0" y="0"/>
            <a:chExt cx="164338" cy="10602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521475" y="330136"/>
            <a:ext cx="164335" cy="1060237"/>
            <a:chOff x="0" y="0"/>
            <a:chExt cx="164338" cy="10602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218440" y="330136"/>
            <a:ext cx="164335" cy="1060237"/>
            <a:chOff x="0" y="0"/>
            <a:chExt cx="164338" cy="106023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10127645" y="3333750"/>
            <a:ext cx="7472394" cy="4981596"/>
          </a:xfrm>
          <a:custGeom>
            <a:avLst/>
            <a:gdLst/>
            <a:ahLst/>
            <a:cxnLst/>
            <a:rect r="r" b="b" t="t" l="l"/>
            <a:pathLst>
              <a:path h="4981596" w="7472394">
                <a:moveTo>
                  <a:pt x="0" y="0"/>
                </a:moveTo>
                <a:lnTo>
                  <a:pt x="7472394" y="0"/>
                </a:lnTo>
                <a:lnTo>
                  <a:pt x="7472394" y="4981596"/>
                </a:lnTo>
                <a:lnTo>
                  <a:pt x="0" y="49815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471030" y="2048237"/>
            <a:ext cx="3992947" cy="531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6"/>
              </a:lnSpc>
            </a:pPr>
            <a:r>
              <a:rPr lang="en-US" b="true" sz="28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68466" y="2908059"/>
            <a:ext cx="9459179" cy="62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  <a:spcBef>
                <a:spcPct val="0"/>
              </a:spcBef>
            </a:pPr>
            <a:r>
              <a:rPr lang="en-US" b="true" sz="27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Core Problem: </a:t>
            </a: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High-speed manufacturing lines face high rejection rates due to missed surface defects and delayed machinery maintenance.</a:t>
            </a:r>
          </a:p>
          <a:p>
            <a:pPr algn="l">
              <a:lnSpc>
                <a:spcPts val="3797"/>
              </a:lnSpc>
              <a:spcBef>
                <a:spcPct val="0"/>
              </a:spcBef>
            </a:pPr>
          </a:p>
          <a:p>
            <a:pPr algn="l">
              <a:lnSpc>
                <a:spcPts val="3797"/>
              </a:lnSpc>
              <a:spcBef>
                <a:spcPct val="0"/>
              </a:spcBef>
            </a:pPr>
            <a:r>
              <a:rPr lang="en-US" b="true" sz="27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Industrial Bottlenecks:</a:t>
            </a:r>
          </a:p>
          <a:p>
            <a:pPr algn="l">
              <a:lnSpc>
                <a:spcPts val="3797"/>
              </a:lnSpc>
              <a:spcBef>
                <a:spcPct val="0"/>
              </a:spcBef>
            </a:pPr>
            <a:r>
              <a:rPr lang="en-US" b="true" sz="27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Environmental Instability:</a:t>
            </a: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Factory floor lighting shifts, shadows, and reflections break traditional</a:t>
            </a:r>
            <a:r>
              <a:rPr lang="en-US" b="true" sz="27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computer vision rules.</a:t>
            </a:r>
          </a:p>
          <a:p>
            <a:pPr algn="l">
              <a:lnSpc>
                <a:spcPts val="3797"/>
              </a:lnSpc>
              <a:spcBef>
                <a:spcPct val="0"/>
              </a:spcBef>
            </a:pPr>
            <a:r>
              <a:rPr lang="en-US" b="true" sz="27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Inspector Fatigue: </a:t>
            </a: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Human operators miss subtle micro-cracks and surface scratches over long shifts</a:t>
            </a:r>
            <a:r>
              <a:rPr lang="en-US" b="true" sz="27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l">
              <a:lnSpc>
                <a:spcPts val="3797"/>
              </a:lnSpc>
              <a:spcBef>
                <a:spcPct val="0"/>
              </a:spcBef>
            </a:pPr>
            <a:r>
              <a:rPr lang="en-US" b="true" sz="27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Non-Actionable Detection: </a:t>
            </a:r>
            <a:r>
              <a:rPr lang="en-US" sz="27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Standard AI flags that a part is broken, but leaves engineers guessing why it broke, causing hours of line downtime.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490" y="251374"/>
            <a:ext cx="18059400" cy="9810750"/>
            <a:chOff x="0" y="0"/>
            <a:chExt cx="24079200" cy="130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79200" cy="13081000"/>
            </a:xfrm>
            <a:custGeom>
              <a:avLst/>
              <a:gdLst/>
              <a:ahLst/>
              <a:cxnLst/>
              <a:rect r="r" b="b" t="t" l="l"/>
              <a:pathLst>
                <a:path h="13081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081000"/>
                  </a:lnTo>
                  <a:lnTo>
                    <a:pt x="0" y="130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0" r="-712" b="-25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599860">
            <a:off x="1346825" y="326850"/>
            <a:ext cx="400050" cy="647700"/>
            <a:chOff x="0" y="0"/>
            <a:chExt cx="533400" cy="86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" cy="863600"/>
            </a:xfrm>
            <a:custGeom>
              <a:avLst/>
              <a:gdLst/>
              <a:ahLst/>
              <a:cxnLst/>
              <a:rect r="r" b="b" t="t" l="l"/>
              <a:pathLst>
                <a:path h="863600" w="533400">
                  <a:moveTo>
                    <a:pt x="0" y="0"/>
                  </a:moveTo>
                  <a:lnTo>
                    <a:pt x="0" y="863600"/>
                  </a:lnTo>
                  <a:lnTo>
                    <a:pt x="533400" y="863600"/>
                  </a:lnTo>
                  <a:lnTo>
                    <a:pt x="533400" y="0"/>
                  </a:lnTo>
                  <a:lnTo>
                    <a:pt x="29883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809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2599860">
            <a:off x="1657350" y="325555"/>
            <a:ext cx="400050" cy="657225"/>
            <a:chOff x="0" y="0"/>
            <a:chExt cx="533400" cy="876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0" y="876300"/>
                  </a:lnTo>
                  <a:lnTo>
                    <a:pt x="533400" y="876300"/>
                  </a:lnTo>
                  <a:lnTo>
                    <a:pt x="5334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615383" y="166011"/>
            <a:ext cx="400050" cy="657225"/>
            <a:chOff x="0" y="0"/>
            <a:chExt cx="533400" cy="876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543" y="519874"/>
            <a:ext cx="2133600" cy="733425"/>
            <a:chOff x="0" y="0"/>
            <a:chExt cx="2844800" cy="977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4800" cy="977900"/>
            </a:xfrm>
            <a:custGeom>
              <a:avLst/>
              <a:gdLst/>
              <a:ahLst/>
              <a:cxnLst/>
              <a:rect r="r" b="b" t="t" l="l"/>
              <a:pathLst>
                <a:path h="97790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977900"/>
                  </a:lnTo>
                  <a:lnTo>
                    <a:pt x="0" y="97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15607" y="492871"/>
            <a:ext cx="2314575" cy="723900"/>
            <a:chOff x="0" y="0"/>
            <a:chExt cx="3086100" cy="96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86100" cy="965200"/>
            </a:xfrm>
            <a:custGeom>
              <a:avLst/>
              <a:gdLst/>
              <a:ahLst/>
              <a:cxnLst/>
              <a:rect r="r" b="b" t="t" l="l"/>
              <a:pathLst>
                <a:path h="9652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44700" y="330136"/>
            <a:ext cx="1342244" cy="981837"/>
            <a:chOff x="0" y="0"/>
            <a:chExt cx="1342238" cy="9818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751" cy="981841"/>
            </a:xfrm>
            <a:custGeom>
              <a:avLst/>
              <a:gdLst/>
              <a:ahLst/>
              <a:cxnLst/>
              <a:rect r="r" b="b" t="t" l="l"/>
              <a:pathLst>
                <a:path h="981841" w="1341751">
                  <a:moveTo>
                    <a:pt x="0" y="0"/>
                  </a:moveTo>
                  <a:lnTo>
                    <a:pt x="0" y="981841"/>
                  </a:lnTo>
                  <a:lnTo>
                    <a:pt x="1341751" y="981841"/>
                  </a:lnTo>
                  <a:lnTo>
                    <a:pt x="13417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75891" y="348244"/>
            <a:ext cx="876300" cy="942975"/>
            <a:chOff x="0" y="0"/>
            <a:chExt cx="1168400" cy="125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1059" t="0" r="-41548" b="-1313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751132" y="438626"/>
            <a:ext cx="2364505" cy="951748"/>
          </a:xfrm>
          <a:custGeom>
            <a:avLst/>
            <a:gdLst/>
            <a:ahLst/>
            <a:cxnLst/>
            <a:rect r="r" b="b" t="t" l="l"/>
            <a:pathLst>
              <a:path h="951748" w="2364505">
                <a:moveTo>
                  <a:pt x="0" y="0"/>
                </a:moveTo>
                <a:lnTo>
                  <a:pt x="2364505" y="0"/>
                </a:lnTo>
                <a:lnTo>
                  <a:pt x="2364505" y="951748"/>
                </a:lnTo>
                <a:lnTo>
                  <a:pt x="0" y="9517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914057" y="613439"/>
            <a:ext cx="2038350" cy="600075"/>
            <a:chOff x="0" y="0"/>
            <a:chExt cx="2717800" cy="800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17800" cy="800100"/>
            </a:xfrm>
            <a:custGeom>
              <a:avLst/>
              <a:gdLst/>
              <a:ahLst/>
              <a:cxnLst/>
              <a:rect r="r" b="b" t="t" l="l"/>
              <a:pathLst>
                <a:path h="800100" w="2717800">
                  <a:moveTo>
                    <a:pt x="0" y="0"/>
                  </a:moveTo>
                  <a:lnTo>
                    <a:pt x="2717800" y="0"/>
                  </a:lnTo>
                  <a:lnTo>
                    <a:pt x="27178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99802" y="463029"/>
            <a:ext cx="1619250" cy="847725"/>
            <a:chOff x="0" y="0"/>
            <a:chExt cx="2159000" cy="1130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590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0818" t="-87704" r="-18004" b="-7746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97167" y="280092"/>
            <a:ext cx="147085" cy="1160307"/>
            <a:chOff x="0" y="0"/>
            <a:chExt cx="147079" cy="11602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32216" y="280092"/>
            <a:ext cx="147085" cy="1160307"/>
            <a:chOff x="0" y="0"/>
            <a:chExt cx="147079" cy="11602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28761" y="280092"/>
            <a:ext cx="147085" cy="1160307"/>
            <a:chOff x="0" y="0"/>
            <a:chExt cx="147079" cy="11602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157271" y="266690"/>
            <a:ext cx="288922" cy="1184272"/>
            <a:chOff x="0" y="0"/>
            <a:chExt cx="288925" cy="11842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31953" y="76962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31953" y="994156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1953" y="193040"/>
              <a:ext cx="20066" cy="801370"/>
            </a:xfrm>
            <a:custGeom>
              <a:avLst/>
              <a:gdLst/>
              <a:ahLst/>
              <a:cxnLst/>
              <a:rect r="r" b="b" t="t" l="l"/>
              <a:pathLst>
                <a:path h="801370" w="20066">
                  <a:moveTo>
                    <a:pt x="20066" y="0"/>
                  </a:moveTo>
                  <a:lnTo>
                    <a:pt x="20066" y="801370"/>
                  </a:lnTo>
                  <a:lnTo>
                    <a:pt x="0" y="801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6980" y="1581693"/>
            <a:ext cx="5251075" cy="1402566"/>
            <a:chOff x="0" y="0"/>
            <a:chExt cx="7001434" cy="18700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01383" cy="1870075"/>
            </a:xfrm>
            <a:custGeom>
              <a:avLst/>
              <a:gdLst/>
              <a:ahLst/>
              <a:cxnLst/>
              <a:rect r="r" b="b" t="t" l="l"/>
              <a:pathLst>
                <a:path h="1870075" w="7001383">
                  <a:moveTo>
                    <a:pt x="0" y="0"/>
                  </a:moveTo>
                  <a:lnTo>
                    <a:pt x="7001383" y="0"/>
                  </a:lnTo>
                  <a:lnTo>
                    <a:pt x="7001383" y="1870075"/>
                  </a:lnTo>
                  <a:lnTo>
                    <a:pt x="0" y="1870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7411" t="-45522" r="-12524" b="-43503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89880" y="330136"/>
            <a:ext cx="164335" cy="1060237"/>
            <a:chOff x="0" y="0"/>
            <a:chExt cx="164338" cy="10602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524939" y="330136"/>
            <a:ext cx="164335" cy="1060237"/>
            <a:chOff x="0" y="0"/>
            <a:chExt cx="164338" cy="10602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521475" y="330136"/>
            <a:ext cx="164335" cy="1060237"/>
            <a:chOff x="0" y="0"/>
            <a:chExt cx="164338" cy="10602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218440" y="330136"/>
            <a:ext cx="164335" cy="1060237"/>
            <a:chOff x="0" y="0"/>
            <a:chExt cx="164338" cy="106023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139190" y="3273027"/>
            <a:ext cx="8805970" cy="4348499"/>
            <a:chOff x="0" y="0"/>
            <a:chExt cx="1364275" cy="6736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64275" cy="673696"/>
            </a:xfrm>
            <a:custGeom>
              <a:avLst/>
              <a:gdLst/>
              <a:ahLst/>
              <a:cxnLst/>
              <a:rect r="r" b="b" t="t" l="l"/>
              <a:pathLst>
                <a:path h="673696" w="1364275">
                  <a:moveTo>
                    <a:pt x="0" y="0"/>
                  </a:moveTo>
                  <a:lnTo>
                    <a:pt x="1364275" y="0"/>
                  </a:lnTo>
                  <a:lnTo>
                    <a:pt x="1364275" y="673696"/>
                  </a:lnTo>
                  <a:lnTo>
                    <a:pt x="0" y="673696"/>
                  </a:lnTo>
                  <a:close/>
                </a:path>
              </a:pathLst>
            </a:custGeom>
            <a:blipFill>
              <a:blip r:embed="rId12"/>
              <a:stretch>
                <a:fillRect l="0" t="-626" r="0" b="-626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502234" y="2048237"/>
            <a:ext cx="3929043" cy="531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6"/>
              </a:lnSpc>
            </a:pPr>
            <a:r>
              <a:rPr lang="en-US" b="true" sz="28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19470" y="2908059"/>
            <a:ext cx="8094587" cy="493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  <a:spcBef>
                <a:spcPct val="0"/>
              </a:spcBef>
            </a:pPr>
            <a:r>
              <a:rPr lang="en-US" b="true" sz="256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"Existing systems tell you THAT a part is broken. EdgeDefect AI tells you WHY it broke and HOW to fix the machine."</a:t>
            </a:r>
          </a:p>
          <a:p>
            <a:pPr algn="l">
              <a:lnSpc>
                <a:spcPts val="3590"/>
              </a:lnSpc>
              <a:spcBef>
                <a:spcPct val="0"/>
              </a:spcBef>
            </a:pPr>
            <a:r>
              <a:rPr lang="en-US" b="true" sz="256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Overview: </a:t>
            </a:r>
            <a:r>
              <a:rPr lang="en-US" sz="25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integrated pipeline combining fast edge detection with generative AI diagnostics.</a:t>
            </a:r>
          </a:p>
          <a:p>
            <a:pPr algn="l">
              <a:lnSpc>
                <a:spcPts val="3590"/>
              </a:lnSpc>
              <a:spcBef>
                <a:spcPct val="0"/>
              </a:spcBef>
            </a:pPr>
          </a:p>
          <a:p>
            <a:pPr algn="l">
              <a:lnSpc>
                <a:spcPts val="3590"/>
              </a:lnSpc>
              <a:spcBef>
                <a:spcPct val="0"/>
              </a:spcBef>
            </a:pPr>
            <a:r>
              <a:rPr lang="en-US" b="true" sz="256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Solution Pillars:</a:t>
            </a:r>
          </a:p>
          <a:p>
            <a:pPr algn="l">
              <a:lnSpc>
                <a:spcPts val="3590"/>
              </a:lnSpc>
              <a:spcBef>
                <a:spcPct val="0"/>
              </a:spcBef>
            </a:pPr>
            <a:r>
              <a:rPr lang="en-US" b="true" sz="256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Lighting Auto-Fix: </a:t>
            </a:r>
            <a:r>
              <a:rPr lang="en-US" sz="25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OpenCV pre-processing stabilizes brightness and contrast variations across shift changes.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19470" y="7767349"/>
            <a:ext cx="16727959" cy="180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  <a:spcBef>
                <a:spcPct val="0"/>
              </a:spcBef>
            </a:pPr>
            <a:r>
              <a:rPr lang="en-US" b="true" sz="256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Sub-50ms Detection:</a:t>
            </a:r>
            <a:r>
              <a:rPr lang="en-US" sz="25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Quantized YOLOv8 engine localizes and classifies defect types (Scratches, Cracks, Dents, Discoloration).</a:t>
            </a:r>
          </a:p>
          <a:p>
            <a:pPr algn="l">
              <a:lnSpc>
                <a:spcPts val="3590"/>
              </a:lnSpc>
              <a:spcBef>
                <a:spcPct val="0"/>
              </a:spcBef>
            </a:pPr>
            <a:r>
              <a:rPr lang="en-US" b="true" sz="256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Automated RCA Engine: </a:t>
            </a:r>
            <a:r>
              <a:rPr lang="en-US" sz="25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Open-source AI translates defect spatial patterns into actionable maintenance advisories.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490" y="251374"/>
            <a:ext cx="18059400" cy="9810750"/>
            <a:chOff x="0" y="0"/>
            <a:chExt cx="24079200" cy="130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79200" cy="13081000"/>
            </a:xfrm>
            <a:custGeom>
              <a:avLst/>
              <a:gdLst/>
              <a:ahLst/>
              <a:cxnLst/>
              <a:rect r="r" b="b" t="t" l="l"/>
              <a:pathLst>
                <a:path h="13081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081000"/>
                  </a:lnTo>
                  <a:lnTo>
                    <a:pt x="0" y="130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0" r="-712" b="-25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599860">
            <a:off x="1346825" y="326850"/>
            <a:ext cx="400050" cy="647700"/>
            <a:chOff x="0" y="0"/>
            <a:chExt cx="533400" cy="86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" cy="863600"/>
            </a:xfrm>
            <a:custGeom>
              <a:avLst/>
              <a:gdLst/>
              <a:ahLst/>
              <a:cxnLst/>
              <a:rect r="r" b="b" t="t" l="l"/>
              <a:pathLst>
                <a:path h="863600" w="533400">
                  <a:moveTo>
                    <a:pt x="0" y="0"/>
                  </a:moveTo>
                  <a:lnTo>
                    <a:pt x="0" y="863600"/>
                  </a:lnTo>
                  <a:lnTo>
                    <a:pt x="533400" y="863600"/>
                  </a:lnTo>
                  <a:lnTo>
                    <a:pt x="533400" y="0"/>
                  </a:lnTo>
                  <a:lnTo>
                    <a:pt x="29883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809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2599860">
            <a:off x="1657350" y="325555"/>
            <a:ext cx="400050" cy="657225"/>
            <a:chOff x="0" y="0"/>
            <a:chExt cx="533400" cy="876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0" y="876300"/>
                  </a:lnTo>
                  <a:lnTo>
                    <a:pt x="533400" y="876300"/>
                  </a:lnTo>
                  <a:lnTo>
                    <a:pt x="5334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615383" y="166011"/>
            <a:ext cx="400050" cy="657225"/>
            <a:chOff x="0" y="0"/>
            <a:chExt cx="533400" cy="876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543" y="519874"/>
            <a:ext cx="2133600" cy="733425"/>
            <a:chOff x="0" y="0"/>
            <a:chExt cx="2844800" cy="977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4800" cy="977900"/>
            </a:xfrm>
            <a:custGeom>
              <a:avLst/>
              <a:gdLst/>
              <a:ahLst/>
              <a:cxnLst/>
              <a:rect r="r" b="b" t="t" l="l"/>
              <a:pathLst>
                <a:path h="97790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977900"/>
                  </a:lnTo>
                  <a:lnTo>
                    <a:pt x="0" y="97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15607" y="492871"/>
            <a:ext cx="2314575" cy="723900"/>
            <a:chOff x="0" y="0"/>
            <a:chExt cx="3086100" cy="96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86100" cy="965200"/>
            </a:xfrm>
            <a:custGeom>
              <a:avLst/>
              <a:gdLst/>
              <a:ahLst/>
              <a:cxnLst/>
              <a:rect r="r" b="b" t="t" l="l"/>
              <a:pathLst>
                <a:path h="9652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44700" y="330136"/>
            <a:ext cx="1342244" cy="981837"/>
            <a:chOff x="0" y="0"/>
            <a:chExt cx="1342238" cy="9818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751" cy="981841"/>
            </a:xfrm>
            <a:custGeom>
              <a:avLst/>
              <a:gdLst/>
              <a:ahLst/>
              <a:cxnLst/>
              <a:rect r="r" b="b" t="t" l="l"/>
              <a:pathLst>
                <a:path h="981841" w="1341751">
                  <a:moveTo>
                    <a:pt x="0" y="0"/>
                  </a:moveTo>
                  <a:lnTo>
                    <a:pt x="0" y="981841"/>
                  </a:lnTo>
                  <a:lnTo>
                    <a:pt x="1341751" y="981841"/>
                  </a:lnTo>
                  <a:lnTo>
                    <a:pt x="13417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75891" y="348244"/>
            <a:ext cx="876300" cy="942975"/>
            <a:chOff x="0" y="0"/>
            <a:chExt cx="1168400" cy="125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1059" t="0" r="-41548" b="-1313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751132" y="438626"/>
            <a:ext cx="2364505" cy="951748"/>
          </a:xfrm>
          <a:custGeom>
            <a:avLst/>
            <a:gdLst/>
            <a:ahLst/>
            <a:cxnLst/>
            <a:rect r="r" b="b" t="t" l="l"/>
            <a:pathLst>
              <a:path h="951748" w="2364505">
                <a:moveTo>
                  <a:pt x="0" y="0"/>
                </a:moveTo>
                <a:lnTo>
                  <a:pt x="2364505" y="0"/>
                </a:lnTo>
                <a:lnTo>
                  <a:pt x="2364505" y="951748"/>
                </a:lnTo>
                <a:lnTo>
                  <a:pt x="0" y="9517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914057" y="613439"/>
            <a:ext cx="2038350" cy="600075"/>
            <a:chOff x="0" y="0"/>
            <a:chExt cx="2717800" cy="800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17800" cy="800100"/>
            </a:xfrm>
            <a:custGeom>
              <a:avLst/>
              <a:gdLst/>
              <a:ahLst/>
              <a:cxnLst/>
              <a:rect r="r" b="b" t="t" l="l"/>
              <a:pathLst>
                <a:path h="800100" w="2717800">
                  <a:moveTo>
                    <a:pt x="0" y="0"/>
                  </a:moveTo>
                  <a:lnTo>
                    <a:pt x="2717800" y="0"/>
                  </a:lnTo>
                  <a:lnTo>
                    <a:pt x="27178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99802" y="463029"/>
            <a:ext cx="1619250" cy="847725"/>
            <a:chOff x="0" y="0"/>
            <a:chExt cx="2159000" cy="1130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590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0818" t="-87704" r="-18004" b="-7746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97167" y="280092"/>
            <a:ext cx="147085" cy="1160307"/>
            <a:chOff x="0" y="0"/>
            <a:chExt cx="147079" cy="11602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32216" y="280092"/>
            <a:ext cx="147085" cy="1160307"/>
            <a:chOff x="0" y="0"/>
            <a:chExt cx="147079" cy="11602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28761" y="280092"/>
            <a:ext cx="147085" cy="1160307"/>
            <a:chOff x="0" y="0"/>
            <a:chExt cx="147079" cy="11602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157271" y="266690"/>
            <a:ext cx="288922" cy="1184272"/>
            <a:chOff x="0" y="0"/>
            <a:chExt cx="288925" cy="11842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31953" y="76962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31953" y="994156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1953" y="193040"/>
              <a:ext cx="20066" cy="801370"/>
            </a:xfrm>
            <a:custGeom>
              <a:avLst/>
              <a:gdLst/>
              <a:ahLst/>
              <a:cxnLst/>
              <a:rect r="r" b="b" t="t" l="l"/>
              <a:pathLst>
                <a:path h="801370" w="20066">
                  <a:moveTo>
                    <a:pt x="20066" y="0"/>
                  </a:moveTo>
                  <a:lnTo>
                    <a:pt x="20066" y="801370"/>
                  </a:lnTo>
                  <a:lnTo>
                    <a:pt x="0" y="801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2400" y="1548536"/>
            <a:ext cx="3916928" cy="1462430"/>
            <a:chOff x="0" y="0"/>
            <a:chExt cx="5222570" cy="19499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22621" cy="1949958"/>
            </a:xfrm>
            <a:custGeom>
              <a:avLst/>
              <a:gdLst/>
              <a:ahLst/>
              <a:cxnLst/>
              <a:rect r="r" b="b" t="t" l="l"/>
              <a:pathLst>
                <a:path h="1949958" w="5222621">
                  <a:moveTo>
                    <a:pt x="0" y="0"/>
                  </a:moveTo>
                  <a:lnTo>
                    <a:pt x="5222621" y="0"/>
                  </a:lnTo>
                  <a:lnTo>
                    <a:pt x="5222621" y="1949958"/>
                  </a:lnTo>
                  <a:lnTo>
                    <a:pt x="0" y="194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7525" t="-41390" r="-16882" b="-39891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89880" y="330136"/>
            <a:ext cx="164335" cy="1060237"/>
            <a:chOff x="0" y="0"/>
            <a:chExt cx="164338" cy="10602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524939" y="330136"/>
            <a:ext cx="164335" cy="1060237"/>
            <a:chOff x="0" y="0"/>
            <a:chExt cx="164338" cy="10602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521475" y="330136"/>
            <a:ext cx="164335" cy="1060237"/>
            <a:chOff x="0" y="0"/>
            <a:chExt cx="164338" cy="10602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218440" y="330136"/>
            <a:ext cx="164335" cy="1060237"/>
            <a:chOff x="0" y="0"/>
            <a:chExt cx="164338" cy="106023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775891" y="3347048"/>
            <a:ext cx="5483409" cy="4932054"/>
            <a:chOff x="0" y="0"/>
            <a:chExt cx="749009" cy="6736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49009" cy="673696"/>
            </a:xfrm>
            <a:custGeom>
              <a:avLst/>
              <a:gdLst/>
              <a:ahLst/>
              <a:cxnLst/>
              <a:rect r="r" b="b" t="t" l="l"/>
              <a:pathLst>
                <a:path h="673696" w="749009">
                  <a:moveTo>
                    <a:pt x="0" y="0"/>
                  </a:moveTo>
                  <a:lnTo>
                    <a:pt x="749009" y="0"/>
                  </a:lnTo>
                  <a:lnTo>
                    <a:pt x="749009" y="673696"/>
                  </a:lnTo>
                  <a:lnTo>
                    <a:pt x="0" y="673696"/>
                  </a:lnTo>
                  <a:close/>
                </a:path>
              </a:pathLst>
            </a:custGeom>
            <a:blipFill>
              <a:blip r:embed="rId12"/>
              <a:stretch>
                <a:fillRect l="0" t="-5589" r="0" b="-5589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611876" y="2043741"/>
            <a:ext cx="2321423" cy="60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5"/>
              </a:lnSpc>
            </a:pPr>
            <a:r>
              <a:rPr lang="en-US" b="true" sz="32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50187" y="2934767"/>
            <a:ext cx="10694513" cy="607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  <a:spcBef>
                <a:spcPct val="0"/>
              </a:spcBef>
            </a:pPr>
            <a:r>
              <a:rPr lang="en-US" b="true" sz="265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System Objectives:</a:t>
            </a:r>
          </a:p>
          <a:p>
            <a:pPr algn="l">
              <a:lnSpc>
                <a:spcPts val="3721"/>
              </a:lnSpc>
              <a:spcBef>
                <a:spcPct val="0"/>
              </a:spcBef>
            </a:pP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 end-to-end defect detection across variable surface materials.</a:t>
            </a:r>
          </a:p>
          <a:p>
            <a:pPr algn="l">
              <a:lnSpc>
                <a:spcPts val="3721"/>
              </a:lnSpc>
              <a:spcBef>
                <a:spcPct val="0"/>
              </a:spcBef>
            </a:pP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Eliminate false positives caused by ambient lighting and glare.</a:t>
            </a:r>
          </a:p>
          <a:p>
            <a:pPr algn="l">
              <a:lnSpc>
                <a:spcPts val="3721"/>
              </a:lnSpc>
              <a:spcBef>
                <a:spcPct val="0"/>
              </a:spcBef>
            </a:pP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Deliver instant root-cause maintenance advisories directly to maintenance technicians.</a:t>
            </a:r>
          </a:p>
          <a:p>
            <a:pPr algn="l">
              <a:lnSpc>
                <a:spcPts val="3721"/>
              </a:lnSpc>
              <a:spcBef>
                <a:spcPct val="0"/>
              </a:spcBef>
            </a:pPr>
          </a:p>
          <a:p>
            <a:pPr algn="l">
              <a:lnSpc>
                <a:spcPts val="3721"/>
              </a:lnSpc>
              <a:spcBef>
                <a:spcPct val="0"/>
              </a:spcBef>
            </a:pPr>
            <a:r>
              <a:rPr lang="en-US" b="true" sz="265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Success Metrics:</a:t>
            </a:r>
          </a:p>
          <a:p>
            <a:pPr algn="l">
              <a:lnSpc>
                <a:spcPts val="3721"/>
              </a:lnSpc>
              <a:spcBef>
                <a:spcPct val="0"/>
              </a:spcBef>
            </a:pPr>
            <a:r>
              <a:rPr lang="en-US" b="true" sz="265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Inference Speed:</a:t>
            </a: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&lt;50ms processing latency per image.</a:t>
            </a:r>
          </a:p>
          <a:p>
            <a:pPr algn="l">
              <a:lnSpc>
                <a:spcPts val="3721"/>
              </a:lnSpc>
              <a:spcBef>
                <a:spcPct val="0"/>
              </a:spcBef>
            </a:pPr>
            <a:r>
              <a:rPr lang="en-US" b="true" sz="265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Detection Accuracy: </a:t>
            </a: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&gt;95% recall across industrial surface defect benchmarks.</a:t>
            </a:r>
          </a:p>
          <a:p>
            <a:pPr algn="l">
              <a:lnSpc>
                <a:spcPts val="3721"/>
              </a:lnSpc>
              <a:spcBef>
                <a:spcPct val="0"/>
              </a:spcBef>
            </a:pPr>
            <a:r>
              <a:rPr lang="en-US" b="true" sz="265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Downtime Reduction: </a:t>
            </a: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 to 80% reduction in machinery diagnostic delay.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490" y="251374"/>
            <a:ext cx="18059400" cy="9810750"/>
            <a:chOff x="0" y="0"/>
            <a:chExt cx="24079200" cy="130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79200" cy="13081000"/>
            </a:xfrm>
            <a:custGeom>
              <a:avLst/>
              <a:gdLst/>
              <a:ahLst/>
              <a:cxnLst/>
              <a:rect r="r" b="b" t="t" l="l"/>
              <a:pathLst>
                <a:path h="13081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081000"/>
                  </a:lnTo>
                  <a:lnTo>
                    <a:pt x="0" y="130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0" r="-712" b="-25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599860">
            <a:off x="1346825" y="326850"/>
            <a:ext cx="400050" cy="647700"/>
            <a:chOff x="0" y="0"/>
            <a:chExt cx="533400" cy="86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" cy="863600"/>
            </a:xfrm>
            <a:custGeom>
              <a:avLst/>
              <a:gdLst/>
              <a:ahLst/>
              <a:cxnLst/>
              <a:rect r="r" b="b" t="t" l="l"/>
              <a:pathLst>
                <a:path h="863600" w="533400">
                  <a:moveTo>
                    <a:pt x="0" y="0"/>
                  </a:moveTo>
                  <a:lnTo>
                    <a:pt x="0" y="863600"/>
                  </a:lnTo>
                  <a:lnTo>
                    <a:pt x="533400" y="863600"/>
                  </a:lnTo>
                  <a:lnTo>
                    <a:pt x="533400" y="0"/>
                  </a:lnTo>
                  <a:lnTo>
                    <a:pt x="29883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809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2599860">
            <a:off x="1657350" y="325555"/>
            <a:ext cx="400050" cy="657225"/>
            <a:chOff x="0" y="0"/>
            <a:chExt cx="533400" cy="876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0" y="876300"/>
                  </a:lnTo>
                  <a:lnTo>
                    <a:pt x="533400" y="876300"/>
                  </a:lnTo>
                  <a:lnTo>
                    <a:pt x="5334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615383" y="166011"/>
            <a:ext cx="400050" cy="657225"/>
            <a:chOff x="0" y="0"/>
            <a:chExt cx="533400" cy="876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543" y="519874"/>
            <a:ext cx="2133600" cy="733425"/>
            <a:chOff x="0" y="0"/>
            <a:chExt cx="2844800" cy="977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4800" cy="977900"/>
            </a:xfrm>
            <a:custGeom>
              <a:avLst/>
              <a:gdLst/>
              <a:ahLst/>
              <a:cxnLst/>
              <a:rect r="r" b="b" t="t" l="l"/>
              <a:pathLst>
                <a:path h="97790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977900"/>
                  </a:lnTo>
                  <a:lnTo>
                    <a:pt x="0" y="97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15607" y="492871"/>
            <a:ext cx="2314575" cy="723900"/>
            <a:chOff x="0" y="0"/>
            <a:chExt cx="3086100" cy="96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86100" cy="965200"/>
            </a:xfrm>
            <a:custGeom>
              <a:avLst/>
              <a:gdLst/>
              <a:ahLst/>
              <a:cxnLst/>
              <a:rect r="r" b="b" t="t" l="l"/>
              <a:pathLst>
                <a:path h="9652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44700" y="330136"/>
            <a:ext cx="1342244" cy="981837"/>
            <a:chOff x="0" y="0"/>
            <a:chExt cx="1342238" cy="9818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751" cy="981841"/>
            </a:xfrm>
            <a:custGeom>
              <a:avLst/>
              <a:gdLst/>
              <a:ahLst/>
              <a:cxnLst/>
              <a:rect r="r" b="b" t="t" l="l"/>
              <a:pathLst>
                <a:path h="981841" w="1341751">
                  <a:moveTo>
                    <a:pt x="0" y="0"/>
                  </a:moveTo>
                  <a:lnTo>
                    <a:pt x="0" y="981841"/>
                  </a:lnTo>
                  <a:lnTo>
                    <a:pt x="1341751" y="981841"/>
                  </a:lnTo>
                  <a:lnTo>
                    <a:pt x="13417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75891" y="348244"/>
            <a:ext cx="876300" cy="942975"/>
            <a:chOff x="0" y="0"/>
            <a:chExt cx="1168400" cy="125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1059" t="0" r="-41548" b="-1313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751132" y="438626"/>
            <a:ext cx="2364505" cy="951748"/>
          </a:xfrm>
          <a:custGeom>
            <a:avLst/>
            <a:gdLst/>
            <a:ahLst/>
            <a:cxnLst/>
            <a:rect r="r" b="b" t="t" l="l"/>
            <a:pathLst>
              <a:path h="951748" w="2364505">
                <a:moveTo>
                  <a:pt x="0" y="0"/>
                </a:moveTo>
                <a:lnTo>
                  <a:pt x="2364505" y="0"/>
                </a:lnTo>
                <a:lnTo>
                  <a:pt x="2364505" y="951748"/>
                </a:lnTo>
                <a:lnTo>
                  <a:pt x="0" y="9517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914057" y="613439"/>
            <a:ext cx="2038350" cy="600075"/>
            <a:chOff x="0" y="0"/>
            <a:chExt cx="2717800" cy="800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17800" cy="800100"/>
            </a:xfrm>
            <a:custGeom>
              <a:avLst/>
              <a:gdLst/>
              <a:ahLst/>
              <a:cxnLst/>
              <a:rect r="r" b="b" t="t" l="l"/>
              <a:pathLst>
                <a:path h="800100" w="2717800">
                  <a:moveTo>
                    <a:pt x="0" y="0"/>
                  </a:moveTo>
                  <a:lnTo>
                    <a:pt x="2717800" y="0"/>
                  </a:lnTo>
                  <a:lnTo>
                    <a:pt x="27178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99802" y="463029"/>
            <a:ext cx="1619250" cy="847725"/>
            <a:chOff x="0" y="0"/>
            <a:chExt cx="2159000" cy="1130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590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0818" t="-87704" r="-18004" b="-7746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97167" y="280092"/>
            <a:ext cx="147085" cy="1160307"/>
            <a:chOff x="0" y="0"/>
            <a:chExt cx="147079" cy="11602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32216" y="280092"/>
            <a:ext cx="147085" cy="1160307"/>
            <a:chOff x="0" y="0"/>
            <a:chExt cx="147079" cy="11602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28761" y="280092"/>
            <a:ext cx="147085" cy="1160307"/>
            <a:chOff x="0" y="0"/>
            <a:chExt cx="147079" cy="11602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157271" y="266690"/>
            <a:ext cx="288922" cy="1184272"/>
            <a:chOff x="0" y="0"/>
            <a:chExt cx="288925" cy="11842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31953" y="76962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31953" y="994156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1953" y="193040"/>
              <a:ext cx="20066" cy="801370"/>
            </a:xfrm>
            <a:custGeom>
              <a:avLst/>
              <a:gdLst/>
              <a:ahLst/>
              <a:cxnLst/>
              <a:rect r="r" b="b" t="t" l="l"/>
              <a:pathLst>
                <a:path h="801370" w="20066">
                  <a:moveTo>
                    <a:pt x="20066" y="0"/>
                  </a:moveTo>
                  <a:lnTo>
                    <a:pt x="20066" y="801370"/>
                  </a:lnTo>
                  <a:lnTo>
                    <a:pt x="0" y="801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1619" y="1548536"/>
            <a:ext cx="4737935" cy="1462430"/>
            <a:chOff x="0" y="0"/>
            <a:chExt cx="6317247" cy="19499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17234" cy="1949958"/>
            </a:xfrm>
            <a:custGeom>
              <a:avLst/>
              <a:gdLst/>
              <a:ahLst/>
              <a:cxnLst/>
              <a:rect r="r" b="b" t="t" l="l"/>
              <a:pathLst>
                <a:path h="1949958" w="6317234">
                  <a:moveTo>
                    <a:pt x="0" y="0"/>
                  </a:moveTo>
                  <a:lnTo>
                    <a:pt x="6317234" y="0"/>
                  </a:lnTo>
                  <a:lnTo>
                    <a:pt x="6317234" y="1949958"/>
                  </a:lnTo>
                  <a:lnTo>
                    <a:pt x="0" y="194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1963" t="-41390" r="-5293" b="-39891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89880" y="330136"/>
            <a:ext cx="164335" cy="1060237"/>
            <a:chOff x="0" y="0"/>
            <a:chExt cx="164338" cy="10602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524939" y="330136"/>
            <a:ext cx="164335" cy="1060237"/>
            <a:chOff x="0" y="0"/>
            <a:chExt cx="164338" cy="10602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521475" y="330136"/>
            <a:ext cx="164335" cy="1060237"/>
            <a:chOff x="0" y="0"/>
            <a:chExt cx="164338" cy="10602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218440" y="330136"/>
            <a:ext cx="164335" cy="1060237"/>
            <a:chOff x="0" y="0"/>
            <a:chExt cx="164338" cy="106023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115637" y="2648341"/>
            <a:ext cx="6143663" cy="6091283"/>
            <a:chOff x="0" y="0"/>
            <a:chExt cx="734718" cy="72845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4718" cy="728454"/>
            </a:xfrm>
            <a:custGeom>
              <a:avLst/>
              <a:gdLst/>
              <a:ahLst/>
              <a:cxnLst/>
              <a:rect r="r" b="b" t="t" l="l"/>
              <a:pathLst>
                <a:path h="728454" w="734718">
                  <a:moveTo>
                    <a:pt x="0" y="0"/>
                  </a:moveTo>
                  <a:lnTo>
                    <a:pt x="734718" y="0"/>
                  </a:lnTo>
                  <a:lnTo>
                    <a:pt x="734718" y="728454"/>
                  </a:lnTo>
                  <a:lnTo>
                    <a:pt x="0" y="728454"/>
                  </a:lnTo>
                  <a:close/>
                </a:path>
              </a:pathLst>
            </a:custGeom>
            <a:blipFill>
              <a:blip r:embed="rId12"/>
              <a:stretch>
                <a:fillRect l="0" t="-429" r="0" b="-429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338071" y="2043741"/>
            <a:ext cx="3292240" cy="60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5"/>
              </a:lnSpc>
            </a:pPr>
            <a:r>
              <a:rPr lang="en-US" b="true" sz="32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60007" y="3039542"/>
            <a:ext cx="10075740" cy="640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Adaptive Lighting Pipeline: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1 (Ingestion):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Receive raw camera feed from the conveyor belt.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2 (Normalization):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Apply Contrast Limited Adaptive Histogram Equalization (CLAHE) to neutralize glare and harsh shadows.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3 (Edge Alignment):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Automated contour extraction to correct component rotation before AI inference.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&amp; Transfer Learning: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Fine-tuned pre-trained vision models using benchmark industrial surface defect datasets (NEU / DAGM).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Synthetic data augmentation (geometric shifts, brightness variations) for high real-world accuracy.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490" y="251374"/>
            <a:ext cx="18059400" cy="9810750"/>
            <a:chOff x="0" y="0"/>
            <a:chExt cx="24079200" cy="130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79200" cy="13081000"/>
            </a:xfrm>
            <a:custGeom>
              <a:avLst/>
              <a:gdLst/>
              <a:ahLst/>
              <a:cxnLst/>
              <a:rect r="r" b="b" t="t" l="l"/>
              <a:pathLst>
                <a:path h="13081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081000"/>
                  </a:lnTo>
                  <a:lnTo>
                    <a:pt x="0" y="130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0" r="-712" b="-25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599860">
            <a:off x="1346825" y="326850"/>
            <a:ext cx="400050" cy="647700"/>
            <a:chOff x="0" y="0"/>
            <a:chExt cx="533400" cy="86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" cy="863600"/>
            </a:xfrm>
            <a:custGeom>
              <a:avLst/>
              <a:gdLst/>
              <a:ahLst/>
              <a:cxnLst/>
              <a:rect r="r" b="b" t="t" l="l"/>
              <a:pathLst>
                <a:path h="863600" w="533400">
                  <a:moveTo>
                    <a:pt x="0" y="0"/>
                  </a:moveTo>
                  <a:lnTo>
                    <a:pt x="0" y="863600"/>
                  </a:lnTo>
                  <a:lnTo>
                    <a:pt x="533400" y="863600"/>
                  </a:lnTo>
                  <a:lnTo>
                    <a:pt x="533400" y="0"/>
                  </a:lnTo>
                  <a:lnTo>
                    <a:pt x="29883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809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2599860">
            <a:off x="1657350" y="325555"/>
            <a:ext cx="400050" cy="657225"/>
            <a:chOff x="0" y="0"/>
            <a:chExt cx="533400" cy="876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0" y="876300"/>
                  </a:lnTo>
                  <a:lnTo>
                    <a:pt x="533400" y="876300"/>
                  </a:lnTo>
                  <a:lnTo>
                    <a:pt x="5334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615383" y="166011"/>
            <a:ext cx="400050" cy="657225"/>
            <a:chOff x="0" y="0"/>
            <a:chExt cx="533400" cy="876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543" y="519874"/>
            <a:ext cx="2133600" cy="733425"/>
            <a:chOff x="0" y="0"/>
            <a:chExt cx="2844800" cy="977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4800" cy="977900"/>
            </a:xfrm>
            <a:custGeom>
              <a:avLst/>
              <a:gdLst/>
              <a:ahLst/>
              <a:cxnLst/>
              <a:rect r="r" b="b" t="t" l="l"/>
              <a:pathLst>
                <a:path h="97790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977900"/>
                  </a:lnTo>
                  <a:lnTo>
                    <a:pt x="0" y="97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15607" y="492871"/>
            <a:ext cx="2314575" cy="723900"/>
            <a:chOff x="0" y="0"/>
            <a:chExt cx="3086100" cy="96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86100" cy="965200"/>
            </a:xfrm>
            <a:custGeom>
              <a:avLst/>
              <a:gdLst/>
              <a:ahLst/>
              <a:cxnLst/>
              <a:rect r="r" b="b" t="t" l="l"/>
              <a:pathLst>
                <a:path h="9652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44700" y="330136"/>
            <a:ext cx="1342244" cy="981837"/>
            <a:chOff x="0" y="0"/>
            <a:chExt cx="1342238" cy="9818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751" cy="981841"/>
            </a:xfrm>
            <a:custGeom>
              <a:avLst/>
              <a:gdLst/>
              <a:ahLst/>
              <a:cxnLst/>
              <a:rect r="r" b="b" t="t" l="l"/>
              <a:pathLst>
                <a:path h="981841" w="1341751">
                  <a:moveTo>
                    <a:pt x="0" y="0"/>
                  </a:moveTo>
                  <a:lnTo>
                    <a:pt x="0" y="981841"/>
                  </a:lnTo>
                  <a:lnTo>
                    <a:pt x="1341751" y="981841"/>
                  </a:lnTo>
                  <a:lnTo>
                    <a:pt x="13417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75891" y="348244"/>
            <a:ext cx="876300" cy="942975"/>
            <a:chOff x="0" y="0"/>
            <a:chExt cx="1168400" cy="125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1059" t="0" r="-41548" b="-1313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751132" y="438626"/>
            <a:ext cx="2364505" cy="951748"/>
          </a:xfrm>
          <a:custGeom>
            <a:avLst/>
            <a:gdLst/>
            <a:ahLst/>
            <a:cxnLst/>
            <a:rect r="r" b="b" t="t" l="l"/>
            <a:pathLst>
              <a:path h="951748" w="2364505">
                <a:moveTo>
                  <a:pt x="0" y="0"/>
                </a:moveTo>
                <a:lnTo>
                  <a:pt x="2364505" y="0"/>
                </a:lnTo>
                <a:lnTo>
                  <a:pt x="2364505" y="951748"/>
                </a:lnTo>
                <a:lnTo>
                  <a:pt x="0" y="9517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914057" y="613439"/>
            <a:ext cx="2038350" cy="600075"/>
            <a:chOff x="0" y="0"/>
            <a:chExt cx="2717800" cy="800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17800" cy="800100"/>
            </a:xfrm>
            <a:custGeom>
              <a:avLst/>
              <a:gdLst/>
              <a:ahLst/>
              <a:cxnLst/>
              <a:rect r="r" b="b" t="t" l="l"/>
              <a:pathLst>
                <a:path h="800100" w="2717800">
                  <a:moveTo>
                    <a:pt x="0" y="0"/>
                  </a:moveTo>
                  <a:lnTo>
                    <a:pt x="2717800" y="0"/>
                  </a:lnTo>
                  <a:lnTo>
                    <a:pt x="27178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99802" y="463029"/>
            <a:ext cx="1619250" cy="847725"/>
            <a:chOff x="0" y="0"/>
            <a:chExt cx="2159000" cy="1130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590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0818" t="-87704" r="-18004" b="-7746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97167" y="280092"/>
            <a:ext cx="147085" cy="1160307"/>
            <a:chOff x="0" y="0"/>
            <a:chExt cx="147079" cy="11602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32216" y="280092"/>
            <a:ext cx="147085" cy="1160307"/>
            <a:chOff x="0" y="0"/>
            <a:chExt cx="147079" cy="11602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28761" y="280092"/>
            <a:ext cx="147085" cy="1160307"/>
            <a:chOff x="0" y="0"/>
            <a:chExt cx="147079" cy="11602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157271" y="266690"/>
            <a:ext cx="288922" cy="1184272"/>
            <a:chOff x="0" y="0"/>
            <a:chExt cx="288925" cy="11842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31953" y="76962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31953" y="994156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1953" y="193040"/>
              <a:ext cx="20066" cy="801370"/>
            </a:xfrm>
            <a:custGeom>
              <a:avLst/>
              <a:gdLst/>
              <a:ahLst/>
              <a:cxnLst/>
              <a:rect r="r" b="b" t="t" l="l"/>
              <a:pathLst>
                <a:path h="801370" w="20066">
                  <a:moveTo>
                    <a:pt x="20066" y="0"/>
                  </a:moveTo>
                  <a:lnTo>
                    <a:pt x="20066" y="801370"/>
                  </a:lnTo>
                  <a:lnTo>
                    <a:pt x="0" y="801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1619" y="1548536"/>
            <a:ext cx="4737935" cy="1462430"/>
            <a:chOff x="0" y="0"/>
            <a:chExt cx="6317247" cy="19499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17234" cy="1949958"/>
            </a:xfrm>
            <a:custGeom>
              <a:avLst/>
              <a:gdLst/>
              <a:ahLst/>
              <a:cxnLst/>
              <a:rect r="r" b="b" t="t" l="l"/>
              <a:pathLst>
                <a:path h="1949958" w="6317234">
                  <a:moveTo>
                    <a:pt x="0" y="0"/>
                  </a:moveTo>
                  <a:lnTo>
                    <a:pt x="6317234" y="0"/>
                  </a:lnTo>
                  <a:lnTo>
                    <a:pt x="6317234" y="1949958"/>
                  </a:lnTo>
                  <a:lnTo>
                    <a:pt x="0" y="194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1963" t="-41390" r="-5293" b="-39891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89880" y="330136"/>
            <a:ext cx="164335" cy="1060237"/>
            <a:chOff x="0" y="0"/>
            <a:chExt cx="164338" cy="10602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524939" y="330136"/>
            <a:ext cx="164335" cy="1060237"/>
            <a:chOff x="0" y="0"/>
            <a:chExt cx="164338" cy="10602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521475" y="330136"/>
            <a:ext cx="164335" cy="1060237"/>
            <a:chOff x="0" y="0"/>
            <a:chExt cx="164338" cy="10602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218440" y="330136"/>
            <a:ext cx="164335" cy="1060237"/>
            <a:chOff x="0" y="0"/>
            <a:chExt cx="164338" cy="106023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983092" y="2648341"/>
            <a:ext cx="5901641" cy="5851324"/>
            <a:chOff x="0" y="0"/>
            <a:chExt cx="734718" cy="72845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4718" cy="728454"/>
            </a:xfrm>
            <a:custGeom>
              <a:avLst/>
              <a:gdLst/>
              <a:ahLst/>
              <a:cxnLst/>
              <a:rect r="r" b="b" t="t" l="l"/>
              <a:pathLst>
                <a:path h="728454" w="734718">
                  <a:moveTo>
                    <a:pt x="0" y="0"/>
                  </a:moveTo>
                  <a:lnTo>
                    <a:pt x="734718" y="0"/>
                  </a:lnTo>
                  <a:lnTo>
                    <a:pt x="734718" y="728454"/>
                  </a:lnTo>
                  <a:lnTo>
                    <a:pt x="0" y="728454"/>
                  </a:lnTo>
                  <a:close/>
                </a:path>
              </a:pathLst>
            </a:custGeom>
            <a:blipFill>
              <a:blip r:embed="rId12"/>
              <a:stretch>
                <a:fillRect l="0" t="-429" r="0" b="-429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696601" y="2043741"/>
            <a:ext cx="2561063" cy="60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5"/>
              </a:lnSpc>
            </a:pPr>
            <a:r>
              <a:rPr lang="en-US" b="true" sz="32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WORKFLOW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87215" y="3172892"/>
            <a:ext cx="10757485" cy="615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b="true" sz="29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End-to-End System Execution Flow: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Image Capture: </a:t>
            </a:r>
            <a:r>
              <a:rPr lang="en-US" sz="29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Conveyor camera snaps part photo -&gt; sends to Python FastAPI backend.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Pre-Processing:</a:t>
            </a:r>
            <a:r>
              <a:rPr lang="en-US" sz="29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Image normalized via CLAHE -&gt; passed to quantized YOLOv8 model.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Detection &amp; Masking: </a:t>
            </a:r>
            <a:r>
              <a:rPr lang="en-US" sz="29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Bounding box generated, confidence score computed, defect categorized.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Root-Cause Analysis: </a:t>
            </a:r>
            <a:r>
              <a:rPr lang="en-US" sz="29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Spatial coordinates sent to Open-Source AI API to generate machine repair steps.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Actionable Output: </a:t>
            </a:r>
            <a:r>
              <a:rPr lang="en-US" sz="29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PASS items continue on conveyor; FAIL items trigger pneumatic reject arm and update maintenance dashboard.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490" y="251374"/>
            <a:ext cx="18059400" cy="9810750"/>
            <a:chOff x="0" y="0"/>
            <a:chExt cx="24079200" cy="130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79200" cy="13081000"/>
            </a:xfrm>
            <a:custGeom>
              <a:avLst/>
              <a:gdLst/>
              <a:ahLst/>
              <a:cxnLst/>
              <a:rect r="r" b="b" t="t" l="l"/>
              <a:pathLst>
                <a:path h="13081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081000"/>
                  </a:lnTo>
                  <a:lnTo>
                    <a:pt x="0" y="130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0" r="-712" b="-25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599860">
            <a:off x="1346825" y="326850"/>
            <a:ext cx="400050" cy="647700"/>
            <a:chOff x="0" y="0"/>
            <a:chExt cx="533400" cy="86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" cy="863600"/>
            </a:xfrm>
            <a:custGeom>
              <a:avLst/>
              <a:gdLst/>
              <a:ahLst/>
              <a:cxnLst/>
              <a:rect r="r" b="b" t="t" l="l"/>
              <a:pathLst>
                <a:path h="863600" w="533400">
                  <a:moveTo>
                    <a:pt x="0" y="0"/>
                  </a:moveTo>
                  <a:lnTo>
                    <a:pt x="0" y="863600"/>
                  </a:lnTo>
                  <a:lnTo>
                    <a:pt x="533400" y="863600"/>
                  </a:lnTo>
                  <a:lnTo>
                    <a:pt x="533400" y="0"/>
                  </a:lnTo>
                  <a:lnTo>
                    <a:pt x="29883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809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2599860">
            <a:off x="1657350" y="325555"/>
            <a:ext cx="400050" cy="657225"/>
            <a:chOff x="0" y="0"/>
            <a:chExt cx="533400" cy="876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0" y="876300"/>
                  </a:lnTo>
                  <a:lnTo>
                    <a:pt x="533400" y="876300"/>
                  </a:lnTo>
                  <a:lnTo>
                    <a:pt x="5334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615383" y="166011"/>
            <a:ext cx="400050" cy="657225"/>
            <a:chOff x="0" y="0"/>
            <a:chExt cx="533400" cy="876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543" y="519874"/>
            <a:ext cx="2133600" cy="733425"/>
            <a:chOff x="0" y="0"/>
            <a:chExt cx="2844800" cy="977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4800" cy="977900"/>
            </a:xfrm>
            <a:custGeom>
              <a:avLst/>
              <a:gdLst/>
              <a:ahLst/>
              <a:cxnLst/>
              <a:rect r="r" b="b" t="t" l="l"/>
              <a:pathLst>
                <a:path h="97790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977900"/>
                  </a:lnTo>
                  <a:lnTo>
                    <a:pt x="0" y="97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15607" y="492871"/>
            <a:ext cx="2314575" cy="723900"/>
            <a:chOff x="0" y="0"/>
            <a:chExt cx="3086100" cy="96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86100" cy="965200"/>
            </a:xfrm>
            <a:custGeom>
              <a:avLst/>
              <a:gdLst/>
              <a:ahLst/>
              <a:cxnLst/>
              <a:rect r="r" b="b" t="t" l="l"/>
              <a:pathLst>
                <a:path h="9652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44700" y="330136"/>
            <a:ext cx="1342244" cy="981837"/>
            <a:chOff x="0" y="0"/>
            <a:chExt cx="1342238" cy="9818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751" cy="981841"/>
            </a:xfrm>
            <a:custGeom>
              <a:avLst/>
              <a:gdLst/>
              <a:ahLst/>
              <a:cxnLst/>
              <a:rect r="r" b="b" t="t" l="l"/>
              <a:pathLst>
                <a:path h="981841" w="1341751">
                  <a:moveTo>
                    <a:pt x="0" y="0"/>
                  </a:moveTo>
                  <a:lnTo>
                    <a:pt x="0" y="981841"/>
                  </a:lnTo>
                  <a:lnTo>
                    <a:pt x="1341751" y="981841"/>
                  </a:lnTo>
                  <a:lnTo>
                    <a:pt x="13417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75891" y="348244"/>
            <a:ext cx="876300" cy="942975"/>
            <a:chOff x="0" y="0"/>
            <a:chExt cx="1168400" cy="125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1059" t="0" r="-41548" b="-1313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751132" y="438626"/>
            <a:ext cx="2364505" cy="951748"/>
          </a:xfrm>
          <a:custGeom>
            <a:avLst/>
            <a:gdLst/>
            <a:ahLst/>
            <a:cxnLst/>
            <a:rect r="r" b="b" t="t" l="l"/>
            <a:pathLst>
              <a:path h="951748" w="2364505">
                <a:moveTo>
                  <a:pt x="0" y="0"/>
                </a:moveTo>
                <a:lnTo>
                  <a:pt x="2364505" y="0"/>
                </a:lnTo>
                <a:lnTo>
                  <a:pt x="2364505" y="951748"/>
                </a:lnTo>
                <a:lnTo>
                  <a:pt x="0" y="9517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914057" y="613439"/>
            <a:ext cx="2038350" cy="600075"/>
            <a:chOff x="0" y="0"/>
            <a:chExt cx="2717800" cy="800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17800" cy="800100"/>
            </a:xfrm>
            <a:custGeom>
              <a:avLst/>
              <a:gdLst/>
              <a:ahLst/>
              <a:cxnLst/>
              <a:rect r="r" b="b" t="t" l="l"/>
              <a:pathLst>
                <a:path h="800100" w="2717800">
                  <a:moveTo>
                    <a:pt x="0" y="0"/>
                  </a:moveTo>
                  <a:lnTo>
                    <a:pt x="2717800" y="0"/>
                  </a:lnTo>
                  <a:lnTo>
                    <a:pt x="27178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99802" y="463029"/>
            <a:ext cx="1619250" cy="847725"/>
            <a:chOff x="0" y="0"/>
            <a:chExt cx="2159000" cy="1130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590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0818" t="-87704" r="-18004" b="-7746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97167" y="280092"/>
            <a:ext cx="147085" cy="1160307"/>
            <a:chOff x="0" y="0"/>
            <a:chExt cx="147079" cy="11602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32216" y="280092"/>
            <a:ext cx="147085" cy="1160307"/>
            <a:chOff x="0" y="0"/>
            <a:chExt cx="147079" cy="11602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28761" y="280092"/>
            <a:ext cx="147085" cy="1160307"/>
            <a:chOff x="0" y="0"/>
            <a:chExt cx="147079" cy="11602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157271" y="266690"/>
            <a:ext cx="288922" cy="1184272"/>
            <a:chOff x="0" y="0"/>
            <a:chExt cx="288925" cy="11842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31953" y="76962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31953" y="994156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1953" y="193040"/>
              <a:ext cx="20066" cy="801370"/>
            </a:xfrm>
            <a:custGeom>
              <a:avLst/>
              <a:gdLst/>
              <a:ahLst/>
              <a:cxnLst/>
              <a:rect r="r" b="b" t="t" l="l"/>
              <a:pathLst>
                <a:path h="801370" w="20066">
                  <a:moveTo>
                    <a:pt x="20066" y="0"/>
                  </a:moveTo>
                  <a:lnTo>
                    <a:pt x="20066" y="801370"/>
                  </a:lnTo>
                  <a:lnTo>
                    <a:pt x="0" y="801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4324" y="1239002"/>
            <a:ext cx="6080865" cy="2062048"/>
            <a:chOff x="0" y="0"/>
            <a:chExt cx="8107820" cy="274939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07807" cy="2749423"/>
            </a:xfrm>
            <a:custGeom>
              <a:avLst/>
              <a:gdLst/>
              <a:ahLst/>
              <a:cxnLst/>
              <a:rect r="r" b="b" t="t" l="l"/>
              <a:pathLst>
                <a:path h="2749423" w="8107807">
                  <a:moveTo>
                    <a:pt x="0" y="0"/>
                  </a:moveTo>
                  <a:lnTo>
                    <a:pt x="8107807" y="0"/>
                  </a:lnTo>
                  <a:lnTo>
                    <a:pt x="8107807" y="2749423"/>
                  </a:lnTo>
                  <a:lnTo>
                    <a:pt x="0" y="2749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6090" t="-15410" r="-3303" b="-1437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89880" y="330136"/>
            <a:ext cx="164335" cy="1060237"/>
            <a:chOff x="0" y="0"/>
            <a:chExt cx="164338" cy="10602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524939" y="330136"/>
            <a:ext cx="164335" cy="1060237"/>
            <a:chOff x="0" y="0"/>
            <a:chExt cx="164338" cy="10602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521475" y="330136"/>
            <a:ext cx="164335" cy="1060237"/>
            <a:chOff x="0" y="0"/>
            <a:chExt cx="164338" cy="10602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218440" y="330136"/>
            <a:ext cx="164335" cy="1060237"/>
            <a:chOff x="0" y="0"/>
            <a:chExt cx="164338" cy="106023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157271" y="2869807"/>
            <a:ext cx="6443428" cy="6388493"/>
            <a:chOff x="0" y="0"/>
            <a:chExt cx="734718" cy="72845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4718" cy="728454"/>
            </a:xfrm>
            <a:custGeom>
              <a:avLst/>
              <a:gdLst/>
              <a:ahLst/>
              <a:cxnLst/>
              <a:rect r="r" b="b" t="t" l="l"/>
              <a:pathLst>
                <a:path h="728454" w="734718">
                  <a:moveTo>
                    <a:pt x="0" y="0"/>
                  </a:moveTo>
                  <a:lnTo>
                    <a:pt x="734718" y="0"/>
                  </a:lnTo>
                  <a:lnTo>
                    <a:pt x="734718" y="728454"/>
                  </a:lnTo>
                  <a:lnTo>
                    <a:pt x="0" y="728454"/>
                  </a:lnTo>
                  <a:close/>
                </a:path>
              </a:pathLst>
            </a:custGeom>
            <a:blipFill>
              <a:blip r:embed="rId12"/>
              <a:stretch>
                <a:fillRect l="0" t="-429" r="0" b="-429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318164" y="2013804"/>
            <a:ext cx="4780264" cy="5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8"/>
              </a:lnSpc>
            </a:pPr>
            <a:r>
              <a:rPr lang="en-US" b="true" sz="31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71631" y="3064914"/>
            <a:ext cx="10003915" cy="619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1"/>
              </a:lnSpc>
              <a:spcBef>
                <a:spcPct val="0"/>
              </a:spcBef>
            </a:pPr>
            <a:r>
              <a:rPr lang="en-US" b="true" sz="292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Modular Architecture Layers:</a:t>
            </a:r>
          </a:p>
          <a:p>
            <a:pPr algn="l">
              <a:lnSpc>
                <a:spcPts val="4101"/>
              </a:lnSpc>
              <a:spcBef>
                <a:spcPct val="0"/>
              </a:spcBef>
            </a:pPr>
            <a:r>
              <a:rPr lang="en-US" b="true" sz="292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 UI: </a:t>
            </a:r>
            <a:r>
              <a:rPr lang="en-US" sz="29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 / Next.js + Tailwind CSS for real-time live video and quality metrics.</a:t>
            </a:r>
          </a:p>
          <a:p>
            <a:pPr algn="l">
              <a:lnSpc>
                <a:spcPts val="4101"/>
              </a:lnSpc>
              <a:spcBef>
                <a:spcPct val="0"/>
              </a:spcBef>
            </a:pPr>
            <a:r>
              <a:rPr lang="en-US" b="true" sz="292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Gateway:</a:t>
            </a:r>
            <a:r>
              <a:rPr lang="en-US" sz="29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Python FastAPI for asynchronous API handling and image processing.</a:t>
            </a:r>
          </a:p>
          <a:p>
            <a:pPr algn="l">
              <a:lnSpc>
                <a:spcPts val="4101"/>
              </a:lnSpc>
              <a:spcBef>
                <a:spcPct val="0"/>
              </a:spcBef>
            </a:pPr>
            <a:r>
              <a:rPr lang="en-US" b="true" sz="292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Vision Core: </a:t>
            </a:r>
            <a:r>
              <a:rPr lang="en-US" sz="29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OpenCV + YOLOv8 (PyTorch / ONNX Runtime) for ultra-fast inference.</a:t>
            </a:r>
          </a:p>
          <a:p>
            <a:pPr algn="l">
              <a:lnSpc>
                <a:spcPts val="4101"/>
              </a:lnSpc>
              <a:spcBef>
                <a:spcPct val="0"/>
              </a:spcBef>
            </a:pPr>
            <a:r>
              <a:rPr lang="en-US" b="true" sz="292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Generative Reasoning Engine: </a:t>
            </a:r>
            <a:r>
              <a:rPr lang="en-US" sz="29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Open-Source AI Endpoint (via Antigravity / HuggingFace) for root-cause generation.</a:t>
            </a:r>
          </a:p>
          <a:p>
            <a:pPr algn="l">
              <a:lnSpc>
                <a:spcPts val="4101"/>
              </a:lnSpc>
              <a:spcBef>
                <a:spcPct val="0"/>
              </a:spcBef>
            </a:pPr>
            <a:r>
              <a:rPr lang="en-US" b="true" sz="292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Storage: </a:t>
            </a:r>
            <a:r>
              <a:rPr lang="en-US" sz="29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SQLite / JSON logs for shift analytics and ISO audit compliance.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490" y="251374"/>
            <a:ext cx="18059400" cy="9810750"/>
            <a:chOff x="0" y="0"/>
            <a:chExt cx="24079200" cy="130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79200" cy="13081000"/>
            </a:xfrm>
            <a:custGeom>
              <a:avLst/>
              <a:gdLst/>
              <a:ahLst/>
              <a:cxnLst/>
              <a:rect r="r" b="b" t="t" l="l"/>
              <a:pathLst>
                <a:path h="13081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081000"/>
                  </a:lnTo>
                  <a:lnTo>
                    <a:pt x="0" y="130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0" r="-712" b="-25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599860">
            <a:off x="1346825" y="326850"/>
            <a:ext cx="400050" cy="647700"/>
            <a:chOff x="0" y="0"/>
            <a:chExt cx="533400" cy="86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" cy="863600"/>
            </a:xfrm>
            <a:custGeom>
              <a:avLst/>
              <a:gdLst/>
              <a:ahLst/>
              <a:cxnLst/>
              <a:rect r="r" b="b" t="t" l="l"/>
              <a:pathLst>
                <a:path h="863600" w="533400">
                  <a:moveTo>
                    <a:pt x="0" y="0"/>
                  </a:moveTo>
                  <a:lnTo>
                    <a:pt x="0" y="863600"/>
                  </a:lnTo>
                  <a:lnTo>
                    <a:pt x="533400" y="863600"/>
                  </a:lnTo>
                  <a:lnTo>
                    <a:pt x="533400" y="0"/>
                  </a:lnTo>
                  <a:lnTo>
                    <a:pt x="29883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809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2599860">
            <a:off x="1657350" y="325555"/>
            <a:ext cx="400050" cy="657225"/>
            <a:chOff x="0" y="0"/>
            <a:chExt cx="533400" cy="876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0" y="876300"/>
                  </a:lnTo>
                  <a:lnTo>
                    <a:pt x="533400" y="876300"/>
                  </a:lnTo>
                  <a:lnTo>
                    <a:pt x="5334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615383" y="166011"/>
            <a:ext cx="400050" cy="657225"/>
            <a:chOff x="0" y="0"/>
            <a:chExt cx="533400" cy="876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543" y="519874"/>
            <a:ext cx="2133600" cy="733425"/>
            <a:chOff x="0" y="0"/>
            <a:chExt cx="2844800" cy="977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4800" cy="977900"/>
            </a:xfrm>
            <a:custGeom>
              <a:avLst/>
              <a:gdLst/>
              <a:ahLst/>
              <a:cxnLst/>
              <a:rect r="r" b="b" t="t" l="l"/>
              <a:pathLst>
                <a:path h="97790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977900"/>
                  </a:lnTo>
                  <a:lnTo>
                    <a:pt x="0" y="97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15607" y="492871"/>
            <a:ext cx="2314575" cy="723900"/>
            <a:chOff x="0" y="0"/>
            <a:chExt cx="3086100" cy="96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86100" cy="965200"/>
            </a:xfrm>
            <a:custGeom>
              <a:avLst/>
              <a:gdLst/>
              <a:ahLst/>
              <a:cxnLst/>
              <a:rect r="r" b="b" t="t" l="l"/>
              <a:pathLst>
                <a:path h="9652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44700" y="330136"/>
            <a:ext cx="1342244" cy="981837"/>
            <a:chOff x="0" y="0"/>
            <a:chExt cx="1342238" cy="9818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751" cy="981841"/>
            </a:xfrm>
            <a:custGeom>
              <a:avLst/>
              <a:gdLst/>
              <a:ahLst/>
              <a:cxnLst/>
              <a:rect r="r" b="b" t="t" l="l"/>
              <a:pathLst>
                <a:path h="981841" w="1341751">
                  <a:moveTo>
                    <a:pt x="0" y="0"/>
                  </a:moveTo>
                  <a:lnTo>
                    <a:pt x="0" y="981841"/>
                  </a:lnTo>
                  <a:lnTo>
                    <a:pt x="1341751" y="981841"/>
                  </a:lnTo>
                  <a:lnTo>
                    <a:pt x="13417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75891" y="348244"/>
            <a:ext cx="876300" cy="942975"/>
            <a:chOff x="0" y="0"/>
            <a:chExt cx="1168400" cy="125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1059" t="0" r="-41548" b="-1313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751132" y="438626"/>
            <a:ext cx="2364505" cy="951748"/>
          </a:xfrm>
          <a:custGeom>
            <a:avLst/>
            <a:gdLst/>
            <a:ahLst/>
            <a:cxnLst/>
            <a:rect r="r" b="b" t="t" l="l"/>
            <a:pathLst>
              <a:path h="951748" w="2364505">
                <a:moveTo>
                  <a:pt x="0" y="0"/>
                </a:moveTo>
                <a:lnTo>
                  <a:pt x="2364505" y="0"/>
                </a:lnTo>
                <a:lnTo>
                  <a:pt x="2364505" y="951748"/>
                </a:lnTo>
                <a:lnTo>
                  <a:pt x="0" y="9517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914057" y="613439"/>
            <a:ext cx="2038350" cy="600075"/>
            <a:chOff x="0" y="0"/>
            <a:chExt cx="2717800" cy="800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17800" cy="800100"/>
            </a:xfrm>
            <a:custGeom>
              <a:avLst/>
              <a:gdLst/>
              <a:ahLst/>
              <a:cxnLst/>
              <a:rect r="r" b="b" t="t" l="l"/>
              <a:pathLst>
                <a:path h="800100" w="2717800">
                  <a:moveTo>
                    <a:pt x="0" y="0"/>
                  </a:moveTo>
                  <a:lnTo>
                    <a:pt x="2717800" y="0"/>
                  </a:lnTo>
                  <a:lnTo>
                    <a:pt x="27178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99802" y="463029"/>
            <a:ext cx="1619250" cy="847725"/>
            <a:chOff x="0" y="0"/>
            <a:chExt cx="2159000" cy="1130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590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0818" t="-87704" r="-18004" b="-7746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97167" y="280092"/>
            <a:ext cx="147085" cy="1160307"/>
            <a:chOff x="0" y="0"/>
            <a:chExt cx="147079" cy="11602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32216" y="280092"/>
            <a:ext cx="147085" cy="1160307"/>
            <a:chOff x="0" y="0"/>
            <a:chExt cx="147079" cy="11602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28761" y="280092"/>
            <a:ext cx="147085" cy="1160307"/>
            <a:chOff x="0" y="0"/>
            <a:chExt cx="147079" cy="11602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157271" y="266690"/>
            <a:ext cx="288922" cy="1184272"/>
            <a:chOff x="0" y="0"/>
            <a:chExt cx="288925" cy="11842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31953" y="76962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31953" y="994156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1953" y="193040"/>
              <a:ext cx="20066" cy="801370"/>
            </a:xfrm>
            <a:custGeom>
              <a:avLst/>
              <a:gdLst/>
              <a:ahLst/>
              <a:cxnLst/>
              <a:rect r="r" b="b" t="t" l="l"/>
              <a:pathLst>
                <a:path h="801370" w="20066">
                  <a:moveTo>
                    <a:pt x="20066" y="0"/>
                  </a:moveTo>
                  <a:lnTo>
                    <a:pt x="20066" y="801370"/>
                  </a:lnTo>
                  <a:lnTo>
                    <a:pt x="0" y="801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4294" y="1239002"/>
            <a:ext cx="5449081" cy="2062048"/>
            <a:chOff x="0" y="0"/>
            <a:chExt cx="7265441" cy="274939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65416" cy="2749423"/>
            </a:xfrm>
            <a:custGeom>
              <a:avLst/>
              <a:gdLst/>
              <a:ahLst/>
              <a:cxnLst/>
              <a:rect r="r" b="b" t="t" l="l"/>
              <a:pathLst>
                <a:path h="2749423" w="7265416">
                  <a:moveTo>
                    <a:pt x="0" y="0"/>
                  </a:moveTo>
                  <a:lnTo>
                    <a:pt x="7265416" y="0"/>
                  </a:lnTo>
                  <a:lnTo>
                    <a:pt x="7265416" y="2749423"/>
                  </a:lnTo>
                  <a:lnTo>
                    <a:pt x="0" y="2749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1838" t="-15410" r="-3717" b="-1437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89880" y="330136"/>
            <a:ext cx="164335" cy="1060237"/>
            <a:chOff x="0" y="0"/>
            <a:chExt cx="164338" cy="10602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524939" y="330136"/>
            <a:ext cx="164335" cy="1060237"/>
            <a:chOff x="0" y="0"/>
            <a:chExt cx="164338" cy="10602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521475" y="330136"/>
            <a:ext cx="164335" cy="1060237"/>
            <a:chOff x="0" y="0"/>
            <a:chExt cx="164338" cy="10602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218440" y="330136"/>
            <a:ext cx="164335" cy="1060237"/>
            <a:chOff x="0" y="0"/>
            <a:chExt cx="164338" cy="106023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952407" y="2599401"/>
            <a:ext cx="6443428" cy="6388493"/>
            <a:chOff x="0" y="0"/>
            <a:chExt cx="734718" cy="72845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4718" cy="728454"/>
            </a:xfrm>
            <a:custGeom>
              <a:avLst/>
              <a:gdLst/>
              <a:ahLst/>
              <a:cxnLst/>
              <a:rect r="r" b="b" t="t" l="l"/>
              <a:pathLst>
                <a:path h="728454" w="734718">
                  <a:moveTo>
                    <a:pt x="0" y="0"/>
                  </a:moveTo>
                  <a:lnTo>
                    <a:pt x="734718" y="0"/>
                  </a:lnTo>
                  <a:lnTo>
                    <a:pt x="734718" y="728454"/>
                  </a:lnTo>
                  <a:lnTo>
                    <a:pt x="0" y="728454"/>
                  </a:lnTo>
                  <a:close/>
                </a:path>
              </a:pathLst>
            </a:custGeom>
            <a:blipFill>
              <a:blip r:embed="rId12"/>
              <a:stretch>
                <a:fillRect l="0" t="-429" r="0" b="-429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536496" y="2013804"/>
            <a:ext cx="3595745" cy="5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8"/>
              </a:lnSpc>
            </a:pPr>
            <a:r>
              <a:rPr lang="en-US" b="true" sz="31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36496" y="3180426"/>
            <a:ext cx="10207290" cy="5835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8"/>
              </a:lnSpc>
              <a:spcBef>
                <a:spcPct val="0"/>
              </a:spcBef>
            </a:pPr>
            <a:r>
              <a:rPr lang="en-US" b="true" sz="27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Operator Dashboard Capabilities:</a:t>
            </a:r>
          </a:p>
          <a:p>
            <a:pPr algn="l">
              <a:lnSpc>
                <a:spcPts val="3868"/>
              </a:lnSpc>
              <a:spcBef>
                <a:spcPct val="0"/>
              </a:spcBef>
            </a:pPr>
            <a:r>
              <a:rPr lang="en-US" b="true" sz="27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Live Stream Feed: </a:t>
            </a:r>
            <a:r>
              <a:rPr lang="en-US" sz="27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Displays bounding boxes, classification labels, and confidence percentages in real time.</a:t>
            </a:r>
          </a:p>
          <a:p>
            <a:pPr algn="l">
              <a:lnSpc>
                <a:spcPts val="3868"/>
              </a:lnSpc>
              <a:spcBef>
                <a:spcPct val="0"/>
              </a:spcBef>
            </a:pPr>
            <a:r>
              <a:rPr lang="en-US" sz="27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Lighting Correction Toggle: Allows QA inspectors to compare raw camera input against normalized pre-processed frames.</a:t>
            </a:r>
          </a:p>
          <a:p>
            <a:pPr algn="l">
              <a:lnSpc>
                <a:spcPts val="3868"/>
              </a:lnSpc>
              <a:spcBef>
                <a:spcPct val="0"/>
              </a:spcBef>
            </a:pPr>
            <a:r>
              <a:rPr lang="en-US" b="true" sz="27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Analytics: </a:t>
            </a:r>
            <a:r>
              <a:rPr lang="en-US" sz="27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Pie charts tracking defect distribution (Scratches vs. Cracks) and yield rate percentages.</a:t>
            </a:r>
          </a:p>
          <a:p>
            <a:pPr algn="l">
              <a:lnSpc>
                <a:spcPts val="3868"/>
              </a:lnSpc>
              <a:spcBef>
                <a:spcPct val="0"/>
              </a:spcBef>
            </a:pPr>
            <a:r>
              <a:rPr lang="en-US" sz="27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Confidence-Gated Safety Queue: Automatically routes borderline predictions (50% - 80% confidence) to a human manual review queue.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490" y="251374"/>
            <a:ext cx="18059400" cy="9810750"/>
            <a:chOff x="0" y="0"/>
            <a:chExt cx="24079200" cy="130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79200" cy="13081000"/>
            </a:xfrm>
            <a:custGeom>
              <a:avLst/>
              <a:gdLst/>
              <a:ahLst/>
              <a:cxnLst/>
              <a:rect r="r" b="b" t="t" l="l"/>
              <a:pathLst>
                <a:path h="13081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081000"/>
                  </a:lnTo>
                  <a:lnTo>
                    <a:pt x="0" y="130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0" r="-712" b="-25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599860">
            <a:off x="1346825" y="326850"/>
            <a:ext cx="400050" cy="647700"/>
            <a:chOff x="0" y="0"/>
            <a:chExt cx="533400" cy="86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" cy="863600"/>
            </a:xfrm>
            <a:custGeom>
              <a:avLst/>
              <a:gdLst/>
              <a:ahLst/>
              <a:cxnLst/>
              <a:rect r="r" b="b" t="t" l="l"/>
              <a:pathLst>
                <a:path h="863600" w="533400">
                  <a:moveTo>
                    <a:pt x="0" y="0"/>
                  </a:moveTo>
                  <a:lnTo>
                    <a:pt x="0" y="863600"/>
                  </a:lnTo>
                  <a:lnTo>
                    <a:pt x="533400" y="863600"/>
                  </a:lnTo>
                  <a:lnTo>
                    <a:pt x="533400" y="0"/>
                  </a:lnTo>
                  <a:lnTo>
                    <a:pt x="29883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809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2599860">
            <a:off x="1657350" y="325555"/>
            <a:ext cx="400050" cy="657225"/>
            <a:chOff x="0" y="0"/>
            <a:chExt cx="533400" cy="876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0" y="876300"/>
                  </a:lnTo>
                  <a:lnTo>
                    <a:pt x="533400" y="876300"/>
                  </a:lnTo>
                  <a:lnTo>
                    <a:pt x="5334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615383" y="166011"/>
            <a:ext cx="400050" cy="657225"/>
            <a:chOff x="0" y="0"/>
            <a:chExt cx="533400" cy="876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543" y="519874"/>
            <a:ext cx="2133600" cy="733425"/>
            <a:chOff x="0" y="0"/>
            <a:chExt cx="2844800" cy="977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4800" cy="977900"/>
            </a:xfrm>
            <a:custGeom>
              <a:avLst/>
              <a:gdLst/>
              <a:ahLst/>
              <a:cxnLst/>
              <a:rect r="r" b="b" t="t" l="l"/>
              <a:pathLst>
                <a:path h="97790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977900"/>
                  </a:lnTo>
                  <a:lnTo>
                    <a:pt x="0" y="97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15607" y="492871"/>
            <a:ext cx="2314575" cy="723900"/>
            <a:chOff x="0" y="0"/>
            <a:chExt cx="3086100" cy="96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86100" cy="965200"/>
            </a:xfrm>
            <a:custGeom>
              <a:avLst/>
              <a:gdLst/>
              <a:ahLst/>
              <a:cxnLst/>
              <a:rect r="r" b="b" t="t" l="l"/>
              <a:pathLst>
                <a:path h="9652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44700" y="330136"/>
            <a:ext cx="1342244" cy="981837"/>
            <a:chOff x="0" y="0"/>
            <a:chExt cx="1342238" cy="9818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751" cy="981841"/>
            </a:xfrm>
            <a:custGeom>
              <a:avLst/>
              <a:gdLst/>
              <a:ahLst/>
              <a:cxnLst/>
              <a:rect r="r" b="b" t="t" l="l"/>
              <a:pathLst>
                <a:path h="981841" w="1341751">
                  <a:moveTo>
                    <a:pt x="0" y="0"/>
                  </a:moveTo>
                  <a:lnTo>
                    <a:pt x="0" y="981841"/>
                  </a:lnTo>
                  <a:lnTo>
                    <a:pt x="1341751" y="981841"/>
                  </a:lnTo>
                  <a:lnTo>
                    <a:pt x="13417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75891" y="348244"/>
            <a:ext cx="876300" cy="942975"/>
            <a:chOff x="0" y="0"/>
            <a:chExt cx="1168400" cy="125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1059" t="0" r="-41548" b="-1313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751132" y="438626"/>
            <a:ext cx="2364505" cy="951748"/>
          </a:xfrm>
          <a:custGeom>
            <a:avLst/>
            <a:gdLst/>
            <a:ahLst/>
            <a:cxnLst/>
            <a:rect r="r" b="b" t="t" l="l"/>
            <a:pathLst>
              <a:path h="951748" w="2364505">
                <a:moveTo>
                  <a:pt x="0" y="0"/>
                </a:moveTo>
                <a:lnTo>
                  <a:pt x="2364505" y="0"/>
                </a:lnTo>
                <a:lnTo>
                  <a:pt x="2364505" y="951748"/>
                </a:lnTo>
                <a:lnTo>
                  <a:pt x="0" y="9517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914057" y="613439"/>
            <a:ext cx="2038350" cy="600075"/>
            <a:chOff x="0" y="0"/>
            <a:chExt cx="2717800" cy="800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17800" cy="800100"/>
            </a:xfrm>
            <a:custGeom>
              <a:avLst/>
              <a:gdLst/>
              <a:ahLst/>
              <a:cxnLst/>
              <a:rect r="r" b="b" t="t" l="l"/>
              <a:pathLst>
                <a:path h="800100" w="2717800">
                  <a:moveTo>
                    <a:pt x="0" y="0"/>
                  </a:moveTo>
                  <a:lnTo>
                    <a:pt x="2717800" y="0"/>
                  </a:lnTo>
                  <a:lnTo>
                    <a:pt x="27178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99802" y="463029"/>
            <a:ext cx="1619250" cy="847725"/>
            <a:chOff x="0" y="0"/>
            <a:chExt cx="2159000" cy="1130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590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0818" t="-87704" r="-18004" b="-7746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97167" y="280092"/>
            <a:ext cx="147085" cy="1160307"/>
            <a:chOff x="0" y="0"/>
            <a:chExt cx="147079" cy="11602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32216" y="280092"/>
            <a:ext cx="147085" cy="1160307"/>
            <a:chOff x="0" y="0"/>
            <a:chExt cx="147079" cy="11602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28761" y="280092"/>
            <a:ext cx="147085" cy="1160307"/>
            <a:chOff x="0" y="0"/>
            <a:chExt cx="147079" cy="11602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157271" y="266690"/>
            <a:ext cx="288922" cy="1184272"/>
            <a:chOff x="0" y="0"/>
            <a:chExt cx="288925" cy="11842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31953" y="76962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31953" y="994156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1953" y="193040"/>
              <a:ext cx="20066" cy="801370"/>
            </a:xfrm>
            <a:custGeom>
              <a:avLst/>
              <a:gdLst/>
              <a:ahLst/>
              <a:cxnLst/>
              <a:rect r="r" b="b" t="t" l="l"/>
              <a:pathLst>
                <a:path h="801370" w="20066">
                  <a:moveTo>
                    <a:pt x="20066" y="0"/>
                  </a:moveTo>
                  <a:lnTo>
                    <a:pt x="20066" y="801370"/>
                  </a:lnTo>
                  <a:lnTo>
                    <a:pt x="0" y="801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4294" y="1239002"/>
            <a:ext cx="5449081" cy="2062048"/>
            <a:chOff x="0" y="0"/>
            <a:chExt cx="7265441" cy="274939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65416" cy="2749423"/>
            </a:xfrm>
            <a:custGeom>
              <a:avLst/>
              <a:gdLst/>
              <a:ahLst/>
              <a:cxnLst/>
              <a:rect r="r" b="b" t="t" l="l"/>
              <a:pathLst>
                <a:path h="2749423" w="7265416">
                  <a:moveTo>
                    <a:pt x="0" y="0"/>
                  </a:moveTo>
                  <a:lnTo>
                    <a:pt x="7265416" y="0"/>
                  </a:lnTo>
                  <a:lnTo>
                    <a:pt x="7265416" y="2749423"/>
                  </a:lnTo>
                  <a:lnTo>
                    <a:pt x="0" y="2749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1838" t="-15410" r="-3717" b="-1437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89880" y="330136"/>
            <a:ext cx="164335" cy="1060237"/>
            <a:chOff x="0" y="0"/>
            <a:chExt cx="164338" cy="10602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524939" y="330136"/>
            <a:ext cx="164335" cy="1060237"/>
            <a:chOff x="0" y="0"/>
            <a:chExt cx="164338" cy="10602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521475" y="330136"/>
            <a:ext cx="164335" cy="1060237"/>
            <a:chOff x="0" y="0"/>
            <a:chExt cx="164338" cy="10602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218440" y="330136"/>
            <a:ext cx="164335" cy="1060237"/>
            <a:chOff x="0" y="0"/>
            <a:chExt cx="164338" cy="106023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952407" y="2599401"/>
            <a:ext cx="6443428" cy="6388493"/>
            <a:chOff x="0" y="0"/>
            <a:chExt cx="734718" cy="72845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4718" cy="728454"/>
            </a:xfrm>
            <a:custGeom>
              <a:avLst/>
              <a:gdLst/>
              <a:ahLst/>
              <a:cxnLst/>
              <a:rect r="r" b="b" t="t" l="l"/>
              <a:pathLst>
                <a:path h="728454" w="734718">
                  <a:moveTo>
                    <a:pt x="0" y="0"/>
                  </a:moveTo>
                  <a:lnTo>
                    <a:pt x="734718" y="0"/>
                  </a:lnTo>
                  <a:lnTo>
                    <a:pt x="734718" y="728454"/>
                  </a:lnTo>
                  <a:lnTo>
                    <a:pt x="0" y="728454"/>
                  </a:lnTo>
                  <a:close/>
                </a:path>
              </a:pathLst>
            </a:custGeom>
            <a:blipFill>
              <a:blip r:embed="rId12"/>
              <a:stretch>
                <a:fillRect l="0" t="-429" r="0" b="-429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536496" y="2013804"/>
            <a:ext cx="3595745" cy="5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8"/>
              </a:lnSpc>
            </a:pPr>
            <a:r>
              <a:rPr lang="en-US" b="true" sz="31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06239" y="2857056"/>
            <a:ext cx="10091458" cy="627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6"/>
              </a:lnSpc>
              <a:spcBef>
                <a:spcPct val="0"/>
              </a:spcBef>
            </a:pPr>
            <a:r>
              <a:rPr lang="en-US" b="true" sz="25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Translating Patterns into Maintenance Action:</a:t>
            </a:r>
          </a:p>
          <a:p>
            <a:pPr algn="l">
              <a:lnSpc>
                <a:spcPts val="3526"/>
              </a:lnSpc>
              <a:spcBef>
                <a:spcPct val="0"/>
              </a:spcBef>
            </a:pPr>
            <a:r>
              <a:rPr lang="en-US" sz="25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Pattern Analysis: Spatial coordinates translate visual flaws into mechanical insights (e.g., repeating linear scratch vs. single point dent).</a:t>
            </a:r>
          </a:p>
          <a:p>
            <a:pPr algn="l">
              <a:lnSpc>
                <a:spcPts val="3526"/>
              </a:lnSpc>
              <a:spcBef>
                <a:spcPct val="0"/>
              </a:spcBef>
            </a:pPr>
            <a:r>
              <a:rPr lang="en-US" sz="25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Automated Repair Advisory: System generates precise</a:t>
            </a:r>
            <a:r>
              <a:rPr lang="en-US" b="true" sz="25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instructions:</a:t>
            </a:r>
          </a:p>
          <a:p>
            <a:pPr algn="l">
              <a:lnSpc>
                <a:spcPts val="3526"/>
              </a:lnSpc>
              <a:spcBef>
                <a:spcPct val="0"/>
              </a:spcBef>
            </a:pPr>
            <a:r>
              <a:rPr lang="en-US" sz="25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"Linear scratch pattern detected at 5cm intervals -&gt; Cause: Conveyor Belt Roller #2 is stuck and dragging on metal sheets -&gt; Action: Inspect and lubricate Roller #2."</a:t>
            </a:r>
          </a:p>
          <a:p>
            <a:pPr algn="l">
              <a:lnSpc>
                <a:spcPts val="3526"/>
              </a:lnSpc>
              <a:spcBef>
                <a:spcPct val="0"/>
              </a:spcBef>
            </a:pPr>
            <a:r>
              <a:rPr lang="en-US" b="true" sz="25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Optimization:</a:t>
            </a:r>
          </a:p>
          <a:p>
            <a:pPr algn="l">
              <a:lnSpc>
                <a:spcPts val="3526"/>
              </a:lnSpc>
              <a:spcBef>
                <a:spcPct val="0"/>
              </a:spcBef>
            </a:pPr>
            <a:r>
              <a:rPr lang="en-US" sz="25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Sub-50ms core vision detection keeps the assembly line moving without delay.</a:t>
            </a:r>
          </a:p>
          <a:p>
            <a:pPr algn="l">
              <a:lnSpc>
                <a:spcPts val="3526"/>
              </a:lnSpc>
              <a:spcBef>
                <a:spcPct val="0"/>
              </a:spcBef>
            </a:pPr>
            <a:r>
              <a:rPr lang="en-US" sz="25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Generative AI reports compile asynchronously in the background.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490" y="251374"/>
            <a:ext cx="18059400" cy="9810750"/>
            <a:chOff x="0" y="0"/>
            <a:chExt cx="24079200" cy="130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79200" cy="13081000"/>
            </a:xfrm>
            <a:custGeom>
              <a:avLst/>
              <a:gdLst/>
              <a:ahLst/>
              <a:cxnLst/>
              <a:rect r="r" b="b" t="t" l="l"/>
              <a:pathLst>
                <a:path h="13081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081000"/>
                  </a:lnTo>
                  <a:lnTo>
                    <a:pt x="0" y="130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0" r="-712" b="-25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599860">
            <a:off x="1346825" y="326850"/>
            <a:ext cx="400050" cy="647700"/>
            <a:chOff x="0" y="0"/>
            <a:chExt cx="533400" cy="86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" cy="863600"/>
            </a:xfrm>
            <a:custGeom>
              <a:avLst/>
              <a:gdLst/>
              <a:ahLst/>
              <a:cxnLst/>
              <a:rect r="r" b="b" t="t" l="l"/>
              <a:pathLst>
                <a:path h="863600" w="533400">
                  <a:moveTo>
                    <a:pt x="0" y="0"/>
                  </a:moveTo>
                  <a:lnTo>
                    <a:pt x="0" y="863600"/>
                  </a:lnTo>
                  <a:lnTo>
                    <a:pt x="533400" y="863600"/>
                  </a:lnTo>
                  <a:lnTo>
                    <a:pt x="533400" y="0"/>
                  </a:lnTo>
                  <a:lnTo>
                    <a:pt x="29883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809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2599860">
            <a:off x="1657350" y="325555"/>
            <a:ext cx="400050" cy="657225"/>
            <a:chOff x="0" y="0"/>
            <a:chExt cx="533400" cy="876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0" y="876300"/>
                  </a:lnTo>
                  <a:lnTo>
                    <a:pt x="533400" y="876300"/>
                  </a:lnTo>
                  <a:lnTo>
                    <a:pt x="5334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615383" y="166011"/>
            <a:ext cx="400050" cy="657225"/>
            <a:chOff x="0" y="0"/>
            <a:chExt cx="533400" cy="876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4" t="0" r="-89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543" y="519874"/>
            <a:ext cx="2133600" cy="733425"/>
            <a:chOff x="0" y="0"/>
            <a:chExt cx="2844800" cy="977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4800" cy="977900"/>
            </a:xfrm>
            <a:custGeom>
              <a:avLst/>
              <a:gdLst/>
              <a:ahLst/>
              <a:cxnLst/>
              <a:rect r="r" b="b" t="t" l="l"/>
              <a:pathLst>
                <a:path h="97790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977900"/>
                  </a:lnTo>
                  <a:lnTo>
                    <a:pt x="0" y="97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15607" y="492871"/>
            <a:ext cx="2314575" cy="723900"/>
            <a:chOff x="0" y="0"/>
            <a:chExt cx="3086100" cy="96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86100" cy="965200"/>
            </a:xfrm>
            <a:custGeom>
              <a:avLst/>
              <a:gdLst/>
              <a:ahLst/>
              <a:cxnLst/>
              <a:rect r="r" b="b" t="t" l="l"/>
              <a:pathLst>
                <a:path h="9652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44700" y="330136"/>
            <a:ext cx="1342244" cy="981837"/>
            <a:chOff x="0" y="0"/>
            <a:chExt cx="1342238" cy="9818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751" cy="981841"/>
            </a:xfrm>
            <a:custGeom>
              <a:avLst/>
              <a:gdLst/>
              <a:ahLst/>
              <a:cxnLst/>
              <a:rect r="r" b="b" t="t" l="l"/>
              <a:pathLst>
                <a:path h="981841" w="1341751">
                  <a:moveTo>
                    <a:pt x="0" y="0"/>
                  </a:moveTo>
                  <a:lnTo>
                    <a:pt x="0" y="981841"/>
                  </a:lnTo>
                  <a:lnTo>
                    <a:pt x="1341751" y="981841"/>
                  </a:lnTo>
                  <a:lnTo>
                    <a:pt x="13417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75891" y="348244"/>
            <a:ext cx="876300" cy="942975"/>
            <a:chOff x="0" y="0"/>
            <a:chExt cx="1168400" cy="125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1059" t="0" r="-41548" b="-1313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751132" y="438626"/>
            <a:ext cx="2364505" cy="951748"/>
          </a:xfrm>
          <a:custGeom>
            <a:avLst/>
            <a:gdLst/>
            <a:ahLst/>
            <a:cxnLst/>
            <a:rect r="r" b="b" t="t" l="l"/>
            <a:pathLst>
              <a:path h="951748" w="2364505">
                <a:moveTo>
                  <a:pt x="0" y="0"/>
                </a:moveTo>
                <a:lnTo>
                  <a:pt x="2364505" y="0"/>
                </a:lnTo>
                <a:lnTo>
                  <a:pt x="2364505" y="951748"/>
                </a:lnTo>
                <a:lnTo>
                  <a:pt x="0" y="9517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914057" y="613439"/>
            <a:ext cx="2038350" cy="600075"/>
            <a:chOff x="0" y="0"/>
            <a:chExt cx="2717800" cy="800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17800" cy="800100"/>
            </a:xfrm>
            <a:custGeom>
              <a:avLst/>
              <a:gdLst/>
              <a:ahLst/>
              <a:cxnLst/>
              <a:rect r="r" b="b" t="t" l="l"/>
              <a:pathLst>
                <a:path h="800100" w="2717800">
                  <a:moveTo>
                    <a:pt x="0" y="0"/>
                  </a:moveTo>
                  <a:lnTo>
                    <a:pt x="2717800" y="0"/>
                  </a:lnTo>
                  <a:lnTo>
                    <a:pt x="27178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99802" y="463029"/>
            <a:ext cx="1619250" cy="847725"/>
            <a:chOff x="0" y="0"/>
            <a:chExt cx="2159000" cy="1130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590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0818" t="-87704" r="-18004" b="-7746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97167" y="280092"/>
            <a:ext cx="147085" cy="1160307"/>
            <a:chOff x="0" y="0"/>
            <a:chExt cx="147079" cy="11602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32216" y="280092"/>
            <a:ext cx="147085" cy="1160307"/>
            <a:chOff x="0" y="0"/>
            <a:chExt cx="147079" cy="11602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28761" y="280092"/>
            <a:ext cx="147085" cy="1160307"/>
            <a:chOff x="0" y="0"/>
            <a:chExt cx="147079" cy="11602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499" y="63500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499" y="980689"/>
              <a:ext cx="20066" cy="116077"/>
            </a:xfrm>
            <a:custGeom>
              <a:avLst/>
              <a:gdLst/>
              <a:ahLst/>
              <a:cxnLst/>
              <a:rect r="r" b="b" t="t" l="l"/>
              <a:pathLst>
                <a:path h="116077" w="20066">
                  <a:moveTo>
                    <a:pt x="20065" y="0"/>
                  </a:moveTo>
                  <a:lnTo>
                    <a:pt x="20065" y="116077"/>
                  </a:lnTo>
                  <a:lnTo>
                    <a:pt x="0" y="11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499" y="179577"/>
              <a:ext cx="20066" cy="801493"/>
            </a:xfrm>
            <a:custGeom>
              <a:avLst/>
              <a:gdLst/>
              <a:ahLst/>
              <a:cxnLst/>
              <a:rect r="r" b="b" t="t" l="l"/>
              <a:pathLst>
                <a:path h="801493" w="20066">
                  <a:moveTo>
                    <a:pt x="20065" y="0"/>
                  </a:moveTo>
                  <a:lnTo>
                    <a:pt x="20065" y="801493"/>
                  </a:lnTo>
                  <a:lnTo>
                    <a:pt x="0" y="801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157271" y="266690"/>
            <a:ext cx="288922" cy="1184272"/>
            <a:chOff x="0" y="0"/>
            <a:chExt cx="288925" cy="11842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31953" y="76962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31953" y="994156"/>
              <a:ext cx="20066" cy="116078"/>
            </a:xfrm>
            <a:custGeom>
              <a:avLst/>
              <a:gdLst/>
              <a:ahLst/>
              <a:cxnLst/>
              <a:rect r="r" b="b" t="t" l="l"/>
              <a:pathLst>
                <a:path h="116078" w="20066">
                  <a:moveTo>
                    <a:pt x="20066" y="0"/>
                  </a:moveTo>
                  <a:lnTo>
                    <a:pt x="20066" y="116078"/>
                  </a:lnTo>
                  <a:lnTo>
                    <a:pt x="0" y="116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1953" y="193040"/>
              <a:ext cx="20066" cy="801370"/>
            </a:xfrm>
            <a:custGeom>
              <a:avLst/>
              <a:gdLst/>
              <a:ahLst/>
              <a:cxnLst/>
              <a:rect r="r" b="b" t="t" l="l"/>
              <a:pathLst>
                <a:path h="801370" w="20066">
                  <a:moveTo>
                    <a:pt x="20066" y="0"/>
                  </a:moveTo>
                  <a:lnTo>
                    <a:pt x="20066" y="801370"/>
                  </a:lnTo>
                  <a:lnTo>
                    <a:pt x="0" y="801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191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8390" y="1463564"/>
            <a:ext cx="4162425" cy="8591550"/>
            <a:chOff x="0" y="0"/>
            <a:chExt cx="5549900" cy="11455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49900" cy="11455400"/>
            </a:xfrm>
            <a:custGeom>
              <a:avLst/>
              <a:gdLst/>
              <a:ahLst/>
              <a:cxnLst/>
              <a:rect r="r" b="b" t="t" l="l"/>
              <a:pathLst>
                <a:path h="11455400" w="5549900">
                  <a:moveTo>
                    <a:pt x="0" y="0"/>
                  </a:moveTo>
                  <a:lnTo>
                    <a:pt x="5549900" y="0"/>
                  </a:lnTo>
                  <a:lnTo>
                    <a:pt x="5549900" y="11455400"/>
                  </a:lnTo>
                  <a:lnTo>
                    <a:pt x="0" y="1145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384505" y="3538680"/>
            <a:ext cx="9772650" cy="5172075"/>
            <a:chOff x="0" y="0"/>
            <a:chExt cx="13030200" cy="6896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030200" cy="6896100"/>
            </a:xfrm>
            <a:custGeom>
              <a:avLst/>
              <a:gdLst/>
              <a:ahLst/>
              <a:cxnLst/>
              <a:rect r="r" b="b" t="t" l="l"/>
              <a:pathLst>
                <a:path h="6896100" w="13030200">
                  <a:moveTo>
                    <a:pt x="0" y="0"/>
                  </a:moveTo>
                  <a:lnTo>
                    <a:pt x="13030200" y="0"/>
                  </a:lnTo>
                  <a:lnTo>
                    <a:pt x="13030200" y="6896100"/>
                  </a:lnTo>
                  <a:lnTo>
                    <a:pt x="0" y="68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689880" y="330136"/>
            <a:ext cx="164335" cy="1060237"/>
            <a:chOff x="0" y="0"/>
            <a:chExt cx="164338" cy="10602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524939" y="330136"/>
            <a:ext cx="164335" cy="1060237"/>
            <a:chOff x="0" y="0"/>
            <a:chExt cx="164338" cy="10602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521475" y="330136"/>
            <a:ext cx="164335" cy="1060237"/>
            <a:chOff x="0" y="0"/>
            <a:chExt cx="164338" cy="106023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218440" y="330136"/>
            <a:ext cx="164335" cy="1060237"/>
            <a:chOff x="0" y="0"/>
            <a:chExt cx="164338" cy="106023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4339" cy="1060191"/>
            </a:xfrm>
            <a:custGeom>
              <a:avLst/>
              <a:gdLst/>
              <a:ahLst/>
              <a:cxnLst/>
              <a:rect r="r" b="b" t="t" l="l"/>
              <a:pathLst>
                <a:path h="1060191" w="164339">
                  <a:moveTo>
                    <a:pt x="0" y="1060191"/>
                  </a:moveTo>
                  <a:lnTo>
                    <a:pt x="164339" y="1060191"/>
                  </a:lnTo>
                  <a:lnTo>
                    <a:pt x="1643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DAHUyZcsuC8</dc:identifier>
  <dcterms:modified xsi:type="dcterms:W3CDTF">2011-08-01T06:04:30Z</dcterms:modified>
  <cp:revision>1</cp:revision>
  <dc:title>YHACK- PRIVISA </dc:title>
</cp:coreProperties>
</file>